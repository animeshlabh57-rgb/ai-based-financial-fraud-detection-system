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16"/>
  </p:notesMasterIdLst>
  <p:sldIdLst>
    <p:sldId id="256" r:id="rId2"/>
    <p:sldId id="263" r:id="rId3"/>
    <p:sldId id="257" r:id="rId4"/>
    <p:sldId id="258" r:id="rId5"/>
    <p:sldId id="259" r:id="rId6"/>
    <p:sldId id="260" r:id="rId7"/>
    <p:sldId id="261" r:id="rId8"/>
    <p:sldId id="264" r:id="rId9"/>
    <p:sldId id="265" r:id="rId10"/>
    <p:sldId id="266" r:id="rId11"/>
    <p:sldId id="267" r:id="rId12"/>
    <p:sldId id="268" r:id="rId13"/>
    <p:sldId id="269" r:id="rId14"/>
    <p:sldId id="262" r:id="rId1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 xmlns="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xmlns="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76" d="100"/>
          <a:sy n="76" d="100"/>
        </p:scale>
        <p:origin x="-1232" y="-104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interSettings" Target="printerSettings/printerSettings1.bin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058E2E1-8886-43B2-B986-F2B06DAA2FAC}" type="datetimeFigureOut">
              <a:rPr lang="en-IN" smtClean="0"/>
              <a:t>05/10/26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959FDF3-42B5-4A41-B75E-186C389084C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0298584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342592BF-19BE-9BF0-E2FC-07A36D054E1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xmlns="" id="{383AB4F9-CBB3-B18D-E917-C3B06418676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xmlns="" id="{F50F18A0-E201-1900-A139-E830DD3EA1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3E78AE-7F97-4550-9DD8-BF69171FDC30}" type="datetime1">
              <a:rPr lang="en-IN" smtClean="0"/>
              <a:t>05/10/26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xmlns="" id="{ED0906B9-B1F6-B52E-2EE0-7595B1EBF0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SCOPE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xmlns="" id="{97A13AE1-F96E-D540-8DE1-8D903DB30C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01FD4-9D8D-4491-815B-63C7BF4F003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76519714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7532F7EA-3EC9-99AF-13A9-22A3F8B2D2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FC71419B-73DB-15DA-D2EE-0FC01B435F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xmlns="" id="{AB080259-8D20-E29B-4DC5-312C3DB01B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A886FF-1BA7-4533-94E6-869CE1E2970B}" type="datetime1">
              <a:rPr lang="en-IN" smtClean="0"/>
              <a:t>05/10/26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xmlns="" id="{E101830E-3502-194A-88FA-DC3E0F1B30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SCOPE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xmlns="" id="{ECF6703C-229C-43C6-0484-38EC263AD4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01FD4-9D8D-4491-815B-63C7BF4F003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69399071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7E0CE344-6494-09A6-A5E4-811EEE0CD2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xmlns="" id="{7351A0E2-2B9B-B96E-A3FD-0B26BDDBEB4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xmlns="" id="{A767CE67-8E8A-4D0D-42DF-DDC842B1B1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E22BD8-A2C4-424B-809A-C64DDCC305D9}" type="datetime1">
              <a:rPr lang="en-IN" smtClean="0"/>
              <a:t>05/10/26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xmlns="" id="{73A78C3E-C139-1FD1-979B-D71679959D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SCOPE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xmlns="" id="{9932F297-889B-B694-6DD5-92F8A6AAFF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01FD4-9D8D-4491-815B-63C7BF4F003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9581438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0792C89C-FEA2-11F6-7988-ADD14A7B22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60E5DE7B-A406-1142-36EA-1C149874023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xmlns="" id="{D4355A2B-361E-86CB-ABBE-C510D2B2215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xmlns="" id="{50DA5E84-A1E0-A1C4-F7E6-DA9E7B124C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20F4BC-B3A4-46AF-9AEC-8478EF1369D5}" type="datetime1">
              <a:rPr lang="en-IN" smtClean="0"/>
              <a:t>05/10/26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xmlns="" id="{D5DDA460-54C8-F2AC-C053-53FF3FAFCC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SCOPE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xmlns="" id="{EE6F132A-BD40-58D2-CEEC-A1BA2B9E2E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01FD4-9D8D-4491-815B-63C7BF4F003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43822366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F05823BE-2514-8722-ED45-41E13E46B6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xmlns="" id="{64BFEE3B-6ABA-1D24-97FE-717EBBC999E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xmlns="" id="{5C653C42-4C6D-988F-42A0-8639A508A61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xmlns="" id="{F2B662B4-F942-A78F-394F-74F6037179B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xmlns="" id="{5B445FBE-A81E-92E1-36E3-99D1586F831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xmlns="" id="{B6D20C02-77C2-CB2A-62F8-60B8C62629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9A2993-B405-4F4D-B968-A01C27211659}" type="datetime1">
              <a:rPr lang="en-IN" smtClean="0"/>
              <a:t>05/10/26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xmlns="" id="{AD033241-EB08-777E-F678-5D641F6495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SCOPE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xmlns="" id="{40D711ED-181F-C690-A3B3-1D82670FC5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01FD4-9D8D-4491-815B-63C7BF4F003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5927247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F77468B4-E355-69B3-7598-80ADF2F9CC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xmlns="" id="{E2F1AB3B-AFC6-3627-62E6-22313061FA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378C8C-5FBB-4DD7-A06D-BE263480794B}" type="datetime1">
              <a:rPr lang="en-IN" smtClean="0"/>
              <a:t>05/10/26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xmlns="" id="{2B2C6591-48E4-480E-7965-DE9F830154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SCOPE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xmlns="" id="{F10C9D68-A16A-B2D3-C8A6-B5221AF744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01FD4-9D8D-4491-815B-63C7BF4F003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07506152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xmlns="" id="{A23F289A-3AD7-C11D-1594-90A35E592B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FD2985-06EC-459B-80C8-F6F4362A1C03}" type="datetime1">
              <a:rPr lang="en-IN" smtClean="0"/>
              <a:t>05/10/26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xmlns="" id="{8C252269-BBE3-199F-299B-38D4E9CC18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SCOPE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F7407FDC-B2A9-1304-047F-5808A0B6B2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01FD4-9D8D-4491-815B-63C7BF4F003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04726595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F25A4847-FC20-D9BF-0BDE-26EC7EF743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68D9C584-AC19-D7B4-9DFE-7C1BC2E1BC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xmlns="" id="{2F4A3262-CE8D-2419-DCCC-C536E9FDAC3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xmlns="" id="{294758D6-7AF2-29C5-E0EE-3B7BE155EC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D7E9DA-13C6-48A4-9305-B592482DE8CE}" type="datetime1">
              <a:rPr lang="en-IN" smtClean="0"/>
              <a:t>05/10/26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xmlns="" id="{45AAC7E7-68C4-7616-2DE1-0333E2C446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SCOPE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xmlns="" id="{5E9EF51B-1685-66FF-0783-23584C2517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01FD4-9D8D-4491-815B-63C7BF4F003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75638777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13939D0E-3A71-7252-C837-B8281F0DED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xmlns="" id="{AFE3D557-6893-299F-57A8-A7B173F1014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xmlns="" id="{C4CC8BA2-BB08-F4E3-5660-C7370BA568C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xmlns="" id="{CE57E1CE-C7CA-966D-8661-1E99A7DA21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5E7C4B-C575-4DCF-9B63-045662930500}" type="datetime1">
              <a:rPr lang="en-IN" smtClean="0"/>
              <a:t>05/10/26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xmlns="" id="{66055516-3E64-07E5-10C5-DE056657E4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SCOPE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xmlns="" id="{AFBA5AD5-9867-E76D-C035-2856CCFBC1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01FD4-9D8D-4491-815B-63C7BF4F003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94001795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7E71D7EC-16EA-5009-5D33-ABFC55F281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xmlns="" id="{EB09EC6D-8ED5-29E9-9444-CC2D6A1CB8A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xmlns="" id="{3C1ADFC6-7CEA-ABEE-94C2-870B1E6573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76931C-EA1A-43DD-B3B3-66F5BA587712}" type="datetime1">
              <a:rPr lang="en-IN" smtClean="0"/>
              <a:t>05/10/26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xmlns="" id="{7B1FA3A5-596E-6C2A-F853-30C5DC6FBF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SCOPE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xmlns="" id="{312CE6B1-CE87-B68F-9494-FA6D109F38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01FD4-9D8D-4491-815B-63C7BF4F003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65980957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xmlns="" id="{AF0FF105-FC99-2BCB-131F-2B902F8BAE2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xmlns="" id="{50354FD6-064F-6E12-E8DE-81EC913CDB0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xmlns="" id="{EF1D2109-32D1-4A0F-F903-5142A204EF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C9B0E1-7C95-4C20-B9C6-BA51F388E878}" type="datetime1">
              <a:rPr lang="en-IN" smtClean="0"/>
              <a:t>05/10/26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xmlns="" id="{73E5353D-EEF9-CF3C-A97F-F0F0EBFA7C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SCOPE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xmlns="" id="{3DF2F1DC-3958-BCDE-9A16-88E928E7ED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01FD4-9D8D-4491-815B-63C7BF4F003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53354089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xmlns="" id="{85454249-E28B-CF91-F4A6-9762E4F38B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xmlns="" id="{21E3D641-7C66-CA7D-30A7-7F95AC27EF4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xmlns="" id="{B5E1D408-B228-838E-3E43-4304680A536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3827C3E-786B-4150-9177-1C28966A2ADC}" type="datetime1">
              <a:rPr lang="en-IN" smtClean="0"/>
              <a:t>05/10/26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xmlns="" id="{DCEC7A69-1922-F157-900C-FF956683161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IN"/>
              <a:t>SCOPE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xmlns="" id="{51B80E76-E345-1553-9664-0BCF569B55B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5201FD4-9D8D-4491-815B-63C7BF4F003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9184105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5.jpeg"/><Relationship Id="rId3" Type="http://schemas.openxmlformats.org/officeDocument/2006/relationships/image" Target="../media/image6.jpe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hyperlink" Target="https://forms.gle/B9B71VPy5b9bZ9dJ8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xmlns="" id="{3E9E27CD-EF84-CB3A-3D07-A3152356892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37236" y="-11493"/>
            <a:ext cx="4517528" cy="1871634"/>
          </a:xfrm>
          <a:prstGeom prst="rect">
            <a:avLst/>
          </a:prstGeom>
        </p:spPr>
      </p:pic>
      <p:sp>
        <p:nvSpPr>
          <p:cNvPr id="7" name="Title 6">
            <a:extLst>
              <a:ext uri="{FF2B5EF4-FFF2-40B4-BE49-F238E27FC236}">
                <a16:creationId xmlns:a16="http://schemas.microsoft.com/office/drawing/2014/main" xmlns="" id="{8BAD67C4-20B4-E1F6-A7E7-C8C33181D0C9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1907459" y="1934141"/>
            <a:ext cx="8924544" cy="10895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 sz="1650" b="1">
                <a:solidFill>
                  <a:srgbClr val="1F4E79"/>
                </a:solidFill>
                <a:latin typeface="Times New Roman"/>
              </a:defRPr>
            </a:pPr>
            <a:r>
              <a:t>B.Tech Computer Science and Engineering  |  BCSE497J – Project-I (Review 3)</a:t>
            </a:r>
          </a:p>
          <a:p>
            <a:pPr algn="ctr">
              <a:defRPr sz="2100" b="1">
                <a:solidFill>
                  <a:srgbClr val="202020"/>
                </a:solidFill>
                <a:latin typeface="Times New Roman"/>
              </a:defRPr>
            </a:pPr>
            <a:r>
              <a:t>An Explainable Multi-Model Machine Learning Framework for Financial Fraud Detection with Secure API Integration</a:t>
            </a:r>
          </a:p>
        </p:txBody>
      </p:sp>
      <p:sp>
        <p:nvSpPr>
          <p:cNvPr id="9" name="object 3">
            <a:extLst>
              <a:ext uri="{FF2B5EF4-FFF2-40B4-BE49-F238E27FC236}">
                <a16:creationId xmlns:a16="http://schemas.microsoft.com/office/drawing/2014/main" xmlns="" id="{68BC382C-506F-4908-6AC3-C0AA73064F47}"/>
              </a:ext>
            </a:extLst>
          </p:cNvPr>
          <p:cNvSpPr txBox="1"/>
          <p:nvPr/>
        </p:nvSpPr>
        <p:spPr>
          <a:xfrm>
            <a:off x="2609088" y="3208471"/>
            <a:ext cx="7071360" cy="246080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200"/>
              </a:spcBef>
              <a:defRPr sz="1500" b="1">
                <a:solidFill>
                  <a:srgbClr val="1F4E79"/>
                </a:solidFill>
                <a:latin typeface="Times New Roman"/>
              </a:defRPr>
            </a:pPr>
            <a:r>
              <a:t>Project Team Members (SCOPE):</a:t>
            </a:r>
            <a:endParaRPr sz="1800" dirty="0">
              <a:latin typeface="Times New Roman"/>
              <a:cs typeface="Times New Roman"/>
            </a:endParaRPr>
          </a:p>
          <a:p>
            <a:pPr algn="ctr">
              <a:defRPr sz="1350" b="0">
                <a:solidFill>
                  <a:srgbClr val="202020"/>
                </a:solidFill>
                <a:latin typeface="Times New Roman"/>
              </a:defRPr>
            </a:pPr>
            <a:r>
              <a:t>23BCE0374  Dhruv Singh    |    23BCE0415  Animesh B. Labh    |    23BDS0091  Kushagra Dhelia</a:t>
            </a:r>
          </a:p>
          <a:p>
            <a:pPr algn="l">
              <a:defRPr sz="800" b="0">
                <a:solidFill>
                  <a:srgbClr val="202020"/>
                </a:solidFill>
                <a:latin typeface="Times New Roman"/>
              </a:defRPr>
            </a:pPr>
          </a:p>
          <a:p>
            <a:pPr algn="ctr">
              <a:defRPr sz="1500" b="1">
                <a:solidFill>
                  <a:srgbClr val="1F4E79"/>
                </a:solidFill>
                <a:latin typeface="Times New Roman"/>
              </a:defRPr>
            </a:pPr>
            <a:r>
              <a:t>Project Supervisor / Faculty Guide:</a:t>
            </a:r>
          </a:p>
          <a:p>
            <a:pPr algn="ctr">
              <a:defRPr sz="1400" b="1">
                <a:solidFill>
                  <a:srgbClr val="202020"/>
                </a:solidFill>
                <a:latin typeface="Times New Roman"/>
              </a:defRPr>
            </a:pPr>
            <a:r>
              <a:t>Dr. Erapaneni Gayatri, Assistant Professor Sr. Grade 1</a:t>
            </a:r>
          </a:p>
          <a:p>
            <a:pPr algn="ctr">
              <a:defRPr sz="1300" b="0">
                <a:solidFill>
                  <a:srgbClr val="555555"/>
                </a:solidFill>
                <a:latin typeface="Times New Roman"/>
              </a:defRPr>
            </a:pPr>
            <a:r>
              <a:t>School of Computer Science and Engineering (SCOPE), VIT Vellore</a:t>
            </a:r>
          </a:p>
        </p:txBody>
      </p:sp>
    </p:spTree>
    <p:extLst>
      <p:ext uri="{BB962C8B-B14F-4D97-AF65-F5344CB8AC3E}">
        <p14:creationId xmlns:p14="http://schemas.microsoft.com/office/powerpoint/2010/main" val="4243036810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A6ACBE13-A9D6-9564-DA47-597E38E09F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defRPr sz="2400" b="1">
                <a:solidFill>
                  <a:srgbClr val="1F4E79"/>
                </a:solidFill>
                <a:latin typeface="Times New Roman"/>
              </a:defRPr>
            </a:pPr>
            <a:r>
              <a:t>Approval Mail From Guide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xmlns="" id="{C7827C50-3ED3-2DB6-C227-6784C6CA9E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 sz="1000">
                <a:solidFill>
                  <a:srgbClr val="555555"/>
                </a:solidFill>
                <a:latin typeface="Times New Roman"/>
              </a:defRPr>
            </a:pPr>
            <a:r>
              <a:t>28/10/26</a:t>
            </a:r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xmlns="" id="{56664170-792F-28F8-1C31-5F7A8D69F9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 sz="1000">
                <a:solidFill>
                  <a:srgbClr val="555555"/>
                </a:solidFill>
                <a:latin typeface="Times New Roman"/>
              </a:defRPr>
            </a:pPr>
            <a:r>
              <a:t>VIT SCOPE  |  BCSE497J Project-I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xmlns="" id="{EE16528B-72DB-0275-6A94-33ABB5CD70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01FD4-9D8D-4491-815B-63C7BF4F0034}" type="slidenum">
              <a:rPr lang="en-IN" smtClean="0"/>
              <a:t>2</a:t>
            </a:fld>
            <a:endParaRPr lang="en-IN"/>
          </a:p>
        </p:txBody>
      </p:sp>
      <p:pic>
        <p:nvPicPr>
          <p:cNvPr id="7" name="Picture 6" descr="Screen Shot 2026-10-05 at 11.12.42 A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32320" y="1645920"/>
            <a:ext cx="4297680" cy="438912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31520" y="1645920"/>
            <a:ext cx="6217920" cy="4389120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CBD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737360"/>
            <a:ext cx="5943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059669"/>
                </a:solidFill>
                <a:latin typeface="Times New Roman"/>
              </a:defRPr>
            </a:pPr>
            <a:r>
              <a:t>Project Guide Review &amp; Verification: APPROVED</a:t>
            </a:r>
          </a:p>
          <a:p>
            <a:pPr algn="l">
              <a:defRPr sz="1250" b="1">
                <a:solidFill>
                  <a:srgbClr val="1F4E79"/>
                </a:solidFill>
                <a:latin typeface="Times New Roman"/>
              </a:defRPr>
            </a:pPr>
            <a:r>
              <a:t>Supervisor: Dr. Erapaneni Gayatri, Assistant Professor Sr. Grade 1, SCOPE</a:t>
            </a:r>
          </a:p>
          <a:p>
            <a:pPr algn="l">
              <a:defRPr sz="1150" b="0">
                <a:solidFill>
                  <a:srgbClr val="202020"/>
                </a:solidFill>
                <a:latin typeface="Times New Roman"/>
              </a:defRPr>
            </a:pPr>
            <a:r>
              <a:t>All Review 3 audit aspects and committee requirements have been addressed:</a:t>
            </a:r>
          </a:p>
          <a:p>
            <a:pPr algn="l">
              <a:defRPr sz="400" b="0">
                <a:solidFill>
                  <a:srgbClr val="202020"/>
                </a:solidFill>
                <a:latin typeface="Times New Roman"/>
              </a:defRPr>
            </a:pPr>
          </a:p>
          <a:p>
            <a:pPr algn="l">
              <a:defRPr sz="1100" b="0">
                <a:solidFill>
                  <a:srgbClr val="202020"/>
                </a:solidFill>
                <a:latin typeface="Times New Roman"/>
              </a:defRPr>
            </a:pPr>
            <a:r>
              <a:t>  [x] Literature Survey &amp; Research Gaps: 16 peer-reviewed works evaluated; 3 concrete gaps formulated.</a:t>
            </a:r>
          </a:p>
          <a:p>
            <a:pPr algn="l">
              <a:defRPr sz="1100" b="0">
                <a:solidFill>
                  <a:srgbClr val="202020"/>
                </a:solidFill>
                <a:latin typeface="Times New Roman"/>
              </a:defRPr>
            </a:pPr>
            <a:r>
              <a:t>  [x] Leakage-Free Preprocessing: Stratified holdout with training-only parameter estimation and balance forensics.</a:t>
            </a:r>
          </a:p>
          <a:p>
            <a:pPr algn="l">
              <a:defRPr sz="1100" b="0">
                <a:solidFill>
                  <a:srgbClr val="202020"/>
                </a:solidFill>
                <a:latin typeface="Times New Roman"/>
              </a:defRPr>
            </a:pPr>
            <a:r>
              <a:t>  [x] Multi-Model Consensus: Fuses Random Forest, XGBoost, Deep MLP, Autoencoder; cuts false alarms by 55.6%.</a:t>
            </a:r>
          </a:p>
          <a:p>
            <a:pPr algn="l">
              <a:defRPr sz="1100" b="0">
                <a:solidFill>
                  <a:srgbClr val="202020"/>
                </a:solidFill>
                <a:latin typeface="Times New Roman"/>
              </a:defRPr>
            </a:pPr>
            <a:r>
              <a:t>  [x] Explainability &amp; Regulatory Compliance: TreeSHAP local attributions &amp; ledger balance forensics (GDPR Art. 22).</a:t>
            </a:r>
          </a:p>
          <a:p>
            <a:pPr algn="l">
              <a:defRPr sz="1100" b="0">
                <a:solidFill>
                  <a:srgbClr val="202020"/>
                </a:solidFill>
                <a:latin typeface="Times New Roman"/>
              </a:defRPr>
            </a:pPr>
            <a:r>
              <a:t>  [x] Real-Time Streaming &amp; Fault Tolerance: Apache Kafka pipeline with transactional outbox and synchronous broker ACK.</a:t>
            </a:r>
          </a:p>
          <a:p>
            <a:pPr algn="l">
              <a:defRPr sz="1100" b="0">
                <a:solidFill>
                  <a:srgbClr val="202020"/>
                </a:solidFill>
                <a:latin typeface="Times New Roman"/>
              </a:defRPr>
            </a:pPr>
            <a:r>
              <a:t>  [x] Comprehensive Automated Regression Testing: 104 automated tests achieving 100% PASS rate across all suites.</a:t>
            </a:r>
          </a:p>
          <a:p>
            <a:pPr algn="l">
              <a:defRPr sz="1100" b="0">
                <a:solidFill>
                  <a:srgbClr val="202020"/>
                </a:solidFill>
                <a:latin typeface="Times New Roman"/>
              </a:defRPr>
            </a:pPr>
            <a:r>
              <a:t>  [x] Complete Academic Deliverables: 41-page IEEE-compliant project report and working software repository finalized.</a:t>
            </a:r>
          </a:p>
        </p:txBody>
      </p:sp>
    </p:spTree>
    <p:extLst>
      <p:ext uri="{BB962C8B-B14F-4D97-AF65-F5344CB8AC3E}">
        <p14:creationId xmlns:p14="http://schemas.microsoft.com/office/powerpoint/2010/main" val="1256560622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2">
            <a:extLst>
              <a:ext uri="{FF2B5EF4-FFF2-40B4-BE49-F238E27FC236}">
                <a16:creationId xmlns:a16="http://schemas.microsoft.com/office/drawing/2014/main" xmlns="" id="{027305EA-516C-11F8-8A54-2BA046094AB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8200" y="739558"/>
            <a:ext cx="10515600" cy="576696"/>
          </a:xfrm>
          <a:prstGeom prst="rect">
            <a:avLst/>
          </a:prstGeom>
        </p:spPr>
        <p:txBody>
          <a:bodyPr vert="horz" wrap="square" lIns="0" tIns="113919" rIns="0" bIns="0" rtlCol="0">
            <a:spAutoFit/>
          </a:bodyPr>
          <a:lstStyle/>
          <a:p>
            <a:pPr marL="486409">
              <a:lnSpc>
                <a:spcPct val="100000"/>
              </a:lnSpc>
              <a:spcBef>
                <a:spcPts val="130"/>
              </a:spcBef>
              <a:defRPr sz="2400" b="1">
                <a:solidFill>
                  <a:srgbClr val="1F4E79"/>
                </a:solidFill>
                <a:latin typeface="Times New Roman"/>
              </a:defRPr>
            </a:pPr>
            <a:r>
              <a:t>Aim of the Project</a:t>
            </a:r>
            <a:endParaRPr sz="3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xmlns="" id="{779E6AA7-AE20-8A91-BA42-261BF76A2F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 sz="1000">
                <a:solidFill>
                  <a:srgbClr val="555555"/>
                </a:solidFill>
                <a:latin typeface="Times New Roman"/>
              </a:defRPr>
            </a:pPr>
            <a:r>
              <a:t>28/10/26</a:t>
            </a:r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xmlns="" id="{B77FE434-77F0-B8BE-9198-66090332F3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 sz="1000">
                <a:solidFill>
                  <a:srgbClr val="555555"/>
                </a:solidFill>
                <a:latin typeface="Times New Roman"/>
              </a:defRPr>
            </a:pPr>
            <a:r>
              <a:t>VIT SCOPE  |  BCSE497J Project-I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xmlns="" id="{5AD6A9DA-AEE9-F6FE-EFA8-06396314F7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01FD4-9D8D-4491-815B-63C7BF4F0034}" type="slidenum">
              <a:rPr lang="en-IN" smtClean="0"/>
              <a:t>3</a:t>
            </a:fld>
            <a:endParaRPr lang="en-IN"/>
          </a:p>
        </p:txBody>
      </p:sp>
      <p:sp>
        <p:nvSpPr>
          <p:cNvPr id="10" name="Rounded Rectangle 9"/>
          <p:cNvSpPr/>
          <p:nvPr/>
        </p:nvSpPr>
        <p:spPr>
          <a:xfrm>
            <a:off x="731520" y="1645920"/>
            <a:ext cx="3383280" cy="4297680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CBD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1755648"/>
            <a:ext cx="3108960" cy="40782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1F4E79"/>
                </a:solidFill>
                <a:latin typeface="Times New Roman"/>
              </a:defRPr>
            </a:pPr>
            <a:r>
              <a:t>Core Research Aim</a:t>
            </a:r>
          </a:p>
          <a:p>
            <a:pPr algn="l">
              <a:defRPr sz="1200" b="0">
                <a:solidFill>
                  <a:srgbClr val="202020"/>
                </a:solidFill>
                <a:latin typeface="Times New Roman"/>
              </a:defRPr>
            </a:pPr>
            <a:r>
              <a:t>Formulate, engineer, and empirically benchmark FraudGuard AI—an explainable, multi-model fraud detection framework combining decision tree ensembles (Random Forest, XGBoost) and deep representation models (Deep Neural Network, Deep Autoencoder).</a:t>
            </a:r>
          </a:p>
          <a:p>
            <a:pPr algn="l">
              <a:defRPr sz="600" b="0">
                <a:solidFill>
                  <a:srgbClr val="202020"/>
                </a:solidFill>
                <a:latin typeface="Times New Roman"/>
              </a:defRPr>
            </a:pPr>
          </a:p>
          <a:p>
            <a:pPr algn="l">
              <a:defRPr sz="1200" b="0">
                <a:solidFill>
                  <a:srgbClr val="202020"/>
                </a:solidFill>
                <a:latin typeface="Times New Roman"/>
              </a:defRPr>
            </a:pPr>
            <a:r>
              <a:t>Address severe real-world class imbalance (&lt;0.2% fraud) without methodological data leakage, using training-restricted oversampling (SMOTE-NC) and RobustScaler quantile normalization.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89120" y="1645920"/>
            <a:ext cx="3383280" cy="4297680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CBD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26280" y="1755648"/>
            <a:ext cx="3108960" cy="40782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1F4E79"/>
                </a:solidFill>
                <a:latin typeface="Times New Roman"/>
              </a:defRPr>
            </a:pPr>
            <a:r>
              <a:t>Operational &amp; Cost Goals</a:t>
            </a:r>
          </a:p>
          <a:p>
            <a:pPr algn="l">
              <a:defRPr sz="1200" b="0">
                <a:solidFill>
                  <a:srgbClr val="202020"/>
                </a:solidFill>
                <a:latin typeface="Times New Roman"/>
              </a:defRPr>
            </a:pPr>
            <a:r>
              <a:t>Slash operational false alarms by over 55% relative to individual classifiers through an integer affirmative vote consensus rule with validation-tuned decision thresholds.</a:t>
            </a:r>
          </a:p>
          <a:p>
            <a:pPr algn="l">
              <a:defRPr sz="600" b="0">
                <a:solidFill>
                  <a:srgbClr val="202020"/>
                </a:solidFill>
                <a:latin typeface="Times New Roman"/>
              </a:defRPr>
            </a:pPr>
          </a:p>
          <a:p>
            <a:pPr algn="l">
              <a:defRPr sz="1200" b="0">
                <a:solidFill>
                  <a:srgbClr val="202020"/>
                </a:solidFill>
                <a:latin typeface="Times New Roman"/>
              </a:defRPr>
            </a:pPr>
            <a:r>
              <a:t>Quantify economic protection via asymmetric financial cost modeling ($2,500 missed fraud cost vs. $35 false alarm cost), achieving +$99,460 net financial savings (88.4% ROI over unmonitored baseline).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46720" y="1645920"/>
            <a:ext cx="3383280" cy="4297680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CBD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183879" y="1755648"/>
            <a:ext cx="3108960" cy="40782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1F4E79"/>
                </a:solidFill>
                <a:latin typeface="Times New Roman"/>
              </a:defRPr>
            </a:pPr>
            <a:r>
              <a:t>Compliance &amp; Microservice</a:t>
            </a:r>
          </a:p>
          <a:p>
            <a:pPr algn="l">
              <a:defRPr sz="1200" b="0">
                <a:solidFill>
                  <a:srgbClr val="202020"/>
                </a:solidFill>
                <a:latin typeface="Times New Roman"/>
              </a:defRPr>
            </a:pPr>
            <a:r>
              <a:t>Deliver actionable compliance explanations complying with statutory regulatory frameworks (GDPR Art. 22) through TreeSHAP attributions and quantitative balance discrepancy forensics.</a:t>
            </a:r>
          </a:p>
          <a:p>
            <a:pPr algn="l">
              <a:defRPr sz="600" b="0">
                <a:solidFill>
                  <a:srgbClr val="202020"/>
                </a:solidFill>
                <a:latin typeface="Times New Roman"/>
              </a:defRPr>
            </a:pPr>
          </a:p>
          <a:p>
            <a:pPr algn="l">
              <a:defRPr sz="1200" b="0">
                <a:solidFill>
                  <a:srgbClr val="202020"/>
                </a:solidFill>
                <a:latin typeface="Times New Roman"/>
              </a:defRPr>
            </a:pPr>
            <a:r>
              <a:t>Deploy a containerized FastAPI microservice, interactive Streamlit workspace, and an event-driven Apache Kafka real-time streaming pipeline with transactional outbox crash recovery.</a:t>
            </a:r>
          </a:p>
        </p:txBody>
      </p:sp>
    </p:spTree>
    <p:extLst>
      <p:ext uri="{BB962C8B-B14F-4D97-AF65-F5344CB8AC3E}">
        <p14:creationId xmlns:p14="http://schemas.microsoft.com/office/powerpoint/2010/main" val="2543518868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30BD95E8-8D7C-F548-8B75-23C3B2B15B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2">
            <a:extLst>
              <a:ext uri="{FF2B5EF4-FFF2-40B4-BE49-F238E27FC236}">
                <a16:creationId xmlns:a16="http://schemas.microsoft.com/office/drawing/2014/main" xmlns="" id="{156C6ACB-BF9E-DB99-B99C-4896C652737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8200" y="739558"/>
            <a:ext cx="10515600" cy="576696"/>
          </a:xfrm>
          <a:prstGeom prst="rect">
            <a:avLst/>
          </a:prstGeom>
        </p:spPr>
        <p:txBody>
          <a:bodyPr vert="horz" wrap="square" lIns="0" tIns="113919" rIns="0" bIns="0" rtlCol="0">
            <a:spAutoFit/>
          </a:bodyPr>
          <a:lstStyle/>
          <a:p>
            <a:pPr marL="486409">
              <a:lnSpc>
                <a:spcPct val="100000"/>
              </a:lnSpc>
              <a:spcBef>
                <a:spcPts val="130"/>
              </a:spcBef>
              <a:defRPr sz="2400" b="1">
                <a:solidFill>
                  <a:srgbClr val="1F4E79"/>
                </a:solidFill>
                <a:latin typeface="Times New Roman"/>
              </a:defRPr>
            </a:pPr>
            <a:r>
              <a:t>Abstract</a:t>
            </a:r>
            <a:endParaRPr sz="3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xmlns="" id="{7C3D067F-DF0A-3BD2-0B9E-C22E39B7F8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 sz="1000">
                <a:solidFill>
                  <a:srgbClr val="555555"/>
                </a:solidFill>
                <a:latin typeface="Times New Roman"/>
              </a:defRPr>
            </a:pPr>
            <a:r>
              <a:t>28/10/26</a:t>
            </a:r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xmlns="" id="{E1EFD8C3-C2D0-4BBB-7FD8-43FE2C084A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 sz="1000">
                <a:solidFill>
                  <a:srgbClr val="555555"/>
                </a:solidFill>
                <a:latin typeface="Times New Roman"/>
              </a:defRPr>
            </a:pPr>
            <a:r>
              <a:t>VIT SCOPE  |  BCSE497J Project-I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xmlns="" id="{8BB9991A-41D4-F0AB-EF39-ACE70C817D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01FD4-9D8D-4491-815B-63C7BF4F0034}" type="slidenum">
              <a:rPr lang="en-IN" smtClean="0"/>
              <a:t>4</a:t>
            </a:fld>
            <a:endParaRPr lang="en-IN"/>
          </a:p>
        </p:txBody>
      </p:sp>
      <p:sp>
        <p:nvSpPr>
          <p:cNvPr id="7" name="Rounded Rectangle 6"/>
          <p:cNvSpPr/>
          <p:nvPr/>
        </p:nvSpPr>
        <p:spPr>
          <a:xfrm>
            <a:off x="731520" y="1645920"/>
            <a:ext cx="5120640" cy="4297680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CBD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783080"/>
            <a:ext cx="48463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1F4E79"/>
                </a:solidFill>
                <a:latin typeface="Times New Roman"/>
              </a:defRPr>
            </a:pPr>
            <a:r>
              <a:t>Problem Context &amp; Methodology</a:t>
            </a:r>
          </a:p>
          <a:p>
            <a:pPr algn="l">
              <a:defRPr sz="1150" b="0">
                <a:solidFill>
                  <a:srgbClr val="202020"/>
                </a:solidFill>
                <a:latin typeface="Times New Roman"/>
              </a:defRPr>
            </a:pPr>
            <a:r>
              <a:t>• Industrial Challenge: Rapid digitization of commerce has triggered massive surges in electronic payment fraud. Heuristic rule systems suffer from rigidity and false alarm fatigue, while black-box deep models create serious legal liability under GDPR Art. 22.</a:t>
            </a:r>
          </a:p>
          <a:p>
            <a:pPr algn="l">
              <a:defRPr sz="1150" b="0">
                <a:solidFill>
                  <a:srgbClr val="202020"/>
                </a:solidFill>
                <a:latin typeface="Times New Roman"/>
              </a:defRPr>
            </a:pPr>
            <a:r>
              <a:t>• Multi-Model Consensus Architecture: FraudGuard AI unifies 4 diverse paradigms: Random Forest, XGBoost, Deep Multi-Layer Perceptrons, and a Deep Bottleneck Autoencoder. Operates an affirmative vote rule with validation-tuned operating thresholds.</a:t>
            </a:r>
          </a:p>
          <a:p>
            <a:pPr algn="l">
              <a:defRPr sz="1150" b="0">
                <a:solidFill>
                  <a:srgbClr val="202020"/>
                </a:solidFill>
                <a:latin typeface="Times New Roman"/>
              </a:defRPr>
            </a:pPr>
            <a:r>
              <a:t>• Leakage-Free Data Engineering: Strict stratified holdout preserves pristine test distributions. Combines training-restricted SMOTE-NC with domain-specific balance forensics (origin/destination discrepancies, depletion ratios).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645920"/>
            <a:ext cx="5120640" cy="4297680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CBD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55080" y="1783080"/>
            <a:ext cx="48463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1F4E79"/>
                </a:solidFill>
                <a:latin typeface="Times New Roman"/>
              </a:defRPr>
            </a:pPr>
            <a:r>
              <a:t>Empirical Findings &amp; Production Deployment</a:t>
            </a:r>
          </a:p>
          <a:p>
            <a:pPr algn="l">
              <a:defRPr sz="1150" b="0">
                <a:solidFill>
                  <a:srgbClr val="202020"/>
                </a:solidFill>
                <a:latin typeface="Times New Roman"/>
              </a:defRPr>
            </a:pPr>
            <a:r>
              <a:t>• Primary Benchmark Evaluation (3,000 Holdout txns): Full Consensus achieves Precision: 0.9091, Recall: 0.8889, F1: 0.8989, ROC-AUC: 0.9985, and PR-AUC: 0.9555. Slashes false alarms from 9 (RF) to 4 (55.6% reduction).</a:t>
            </a:r>
          </a:p>
          <a:p>
            <a:pPr algn="l">
              <a:defRPr sz="1150" b="0">
                <a:solidFill>
                  <a:srgbClr val="202020"/>
                </a:solidFill>
                <a:latin typeface="Times New Roman"/>
              </a:defRPr>
            </a:pPr>
            <a:r>
              <a:t>• Distribution Shift Stress Test (1,000 txns, 15 frauds): Tree models suffered total recall collapse (0/15 caught) while neural representations detected 100% of frauds (15/15 caught), proving offline synthetic benchmarks cannot replace live telemetry.</a:t>
            </a:r>
          </a:p>
          <a:p>
            <a:pPr algn="l">
              <a:defRPr sz="1150" b="0">
                <a:solidFill>
                  <a:srgbClr val="202020"/>
                </a:solidFill>
                <a:latin typeface="Times New Roman"/>
              </a:defRPr>
            </a:pPr>
            <a:r>
              <a:t>• Production Engineering &amp; Testing: Containerized FastAPI gateway, Streamlit portal, and Kafka streaming engine with outbox crash recovery, verified across 104 automated regression tests (100% PASS) with sub-100 ms inference latency.</a:t>
            </a:r>
          </a:p>
        </p:txBody>
      </p:sp>
    </p:spTree>
    <p:extLst>
      <p:ext uri="{BB962C8B-B14F-4D97-AF65-F5344CB8AC3E}">
        <p14:creationId xmlns:p14="http://schemas.microsoft.com/office/powerpoint/2010/main" val="3453097932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8FF0AE58-8206-476A-BECC-A1ADC0EA15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2">
            <a:extLst>
              <a:ext uri="{FF2B5EF4-FFF2-40B4-BE49-F238E27FC236}">
                <a16:creationId xmlns:a16="http://schemas.microsoft.com/office/drawing/2014/main" xmlns="" id="{435FB437-6170-6BA2-1A38-A902855A3E6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48056" y="681037"/>
            <a:ext cx="10515600" cy="576696"/>
          </a:xfrm>
          <a:prstGeom prst="rect">
            <a:avLst/>
          </a:prstGeom>
        </p:spPr>
        <p:txBody>
          <a:bodyPr vert="horz" wrap="square" lIns="0" tIns="113919" rIns="0" bIns="0" rtlCol="0">
            <a:spAutoFit/>
          </a:bodyPr>
          <a:lstStyle/>
          <a:p>
            <a:pPr marL="486409">
              <a:lnSpc>
                <a:spcPct val="100000"/>
              </a:lnSpc>
              <a:spcBef>
                <a:spcPts val="130"/>
              </a:spcBef>
              <a:defRPr sz="2400" b="1">
                <a:solidFill>
                  <a:srgbClr val="1F4E79"/>
                </a:solidFill>
                <a:latin typeface="Times New Roman"/>
              </a:defRPr>
            </a:pPr>
            <a:r>
              <a:t>Literature Review</a:t>
            </a:r>
            <a:endParaRPr sz="3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xmlns="" id="{913BC6E0-D294-E70D-8B27-13FBFEE5E6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 sz="1000">
                <a:solidFill>
                  <a:srgbClr val="555555"/>
                </a:solidFill>
                <a:latin typeface="Times New Roman"/>
              </a:defRPr>
            </a:pPr>
            <a:r>
              <a:t>28/10/26</a:t>
            </a:r>
            <a:endParaRPr lang="en-IN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xmlns="" id="{1F284BA2-3334-3EC1-0E81-4C90958972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 sz="1000">
                <a:solidFill>
                  <a:srgbClr val="555555"/>
                </a:solidFill>
                <a:latin typeface="Times New Roman"/>
              </a:defRPr>
            </a:pPr>
            <a:r>
              <a:t>VIT SCOPE  |  BCSE497J Project-I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xmlns="" id="{5A8F14EB-D02F-8EDE-87F4-A3F7E8D20C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01FD4-9D8D-4491-815B-63C7BF4F0034}" type="slidenum">
              <a:rPr lang="en-IN" smtClean="0"/>
              <a:t>5</a:t>
            </a:fld>
            <a:endParaRPr lang="en-IN"/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731520" y="1554480"/>
          <a:ext cx="10698480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1645920"/>
                <a:gridCol w="1645920"/>
                <a:gridCol w="1554480"/>
                <a:gridCol w="1645920"/>
                <a:gridCol w="2560320"/>
              </a:tblGrid>
              <a:tr h="731520"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Authors &amp; Year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Model Architectures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Imbalance Method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Explainability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Deployment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Key Limitations / Research Gaps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02020"/>
                          </a:solidFill>
                          <a:latin typeface="Times New Roman"/>
                        </a:defRPr>
                      </a:pPr>
                      <a:r>
                        <a:t>Dal Pozzolo et al. (2018) [1]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02020"/>
                          </a:solidFill>
                          <a:latin typeface="Times New Roman"/>
                        </a:defRPr>
                      </a:pPr>
                      <a:r>
                        <a:t>Random Forest, LogReg, SVM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02020"/>
                          </a:solidFill>
                          <a:latin typeface="Times New Roman"/>
                        </a:defRPr>
                      </a:pPr>
                      <a:r>
                        <a:t>Undersampling + Calibration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02020"/>
                          </a:solidFill>
                          <a:latin typeface="Times New Roman"/>
                        </a:defRPr>
                      </a:pPr>
                      <a:r>
                        <a:t>None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02020"/>
                          </a:solidFill>
                          <a:latin typeface="Times New Roman"/>
                        </a:defRPr>
                      </a:pPr>
                      <a:r>
                        <a:t>Batch Evaluation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02020"/>
                          </a:solidFill>
                          <a:latin typeface="Times New Roman"/>
                        </a:defRPr>
                      </a:pPr>
                      <a:r>
                        <a:t>No deep architectures; no local explainability.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02020"/>
                          </a:solidFill>
                          <a:latin typeface="Times New Roman"/>
                        </a:defRPr>
                      </a:pPr>
                      <a:r>
                        <a:t>Pumsirirat &amp; Yan (2018) [4]</a:t>
                      </a:r>
                    </a:p>
                  </a:txBody>
                  <a:tcPr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02020"/>
                          </a:solidFill>
                          <a:latin typeface="Times New Roman"/>
                        </a:defRPr>
                      </a:pPr>
                      <a:r>
                        <a:t>Autoencoder, RBM</a:t>
                      </a:r>
                    </a:p>
                  </a:txBody>
                  <a:tcPr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02020"/>
                          </a:solidFill>
                          <a:latin typeface="Times New Roman"/>
                        </a:defRPr>
                      </a:pPr>
                      <a:r>
                        <a:t>Normal-only Unsupervised</a:t>
                      </a:r>
                    </a:p>
                  </a:txBody>
                  <a:tcPr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02020"/>
                          </a:solidFill>
                          <a:latin typeface="Times New Roman"/>
                        </a:defRPr>
                      </a:pPr>
                      <a:r>
                        <a:t>None</a:t>
                      </a:r>
                    </a:p>
                  </a:txBody>
                  <a:tcPr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02020"/>
                          </a:solidFill>
                          <a:latin typeface="Times New Roman"/>
                        </a:defRPr>
                      </a:pPr>
                      <a:r>
                        <a:t>Offline Prototype</a:t>
                      </a:r>
                    </a:p>
                  </a:txBody>
                  <a:tcPr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02020"/>
                          </a:solidFill>
                          <a:latin typeface="Times New Roman"/>
                        </a:defRPr>
                      </a:pPr>
                      <a:r>
                        <a:t>Raw uncalibrated reconstruction distance metrics.</a:t>
                      </a:r>
                    </a:p>
                  </a:txBody>
                  <a:tcPr>
                    <a:solidFill>
                      <a:srgbClr val="F4F7FA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02020"/>
                          </a:solidFill>
                          <a:latin typeface="Times New Roman"/>
                        </a:defRPr>
                      </a:pPr>
                      <a:r>
                        <a:t>Shanaa &amp; Abdallah (2025) [14]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02020"/>
                          </a:solidFill>
                          <a:latin typeface="Times New Roman"/>
                        </a:defRPr>
                      </a:pPr>
                      <a:r>
                        <a:t>Supervised Tree + Anomaly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02020"/>
                          </a:solidFill>
                          <a:latin typeface="Times New Roman"/>
                        </a:defRPr>
                      </a:pPr>
                      <a:r>
                        <a:t>SMOTE on whole dataset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02020"/>
                          </a:solidFill>
                          <a:latin typeface="Times New Roman"/>
                        </a:defRPr>
                      </a:pPr>
                      <a:r>
                        <a:t>None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02020"/>
                          </a:solidFill>
                          <a:latin typeface="Times New Roman"/>
                        </a:defRPr>
                      </a:pPr>
                      <a:r>
                        <a:t>Experimental script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02020"/>
                          </a:solidFill>
                          <a:latin typeface="Times New Roman"/>
                        </a:defRPr>
                      </a:pPr>
                      <a:r>
                        <a:t>Severe data leakage risk; lacks web service.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02020"/>
                          </a:solidFill>
                          <a:latin typeface="Times New Roman"/>
                        </a:defRPr>
                      </a:pPr>
                      <a:r>
                        <a:t>Iqbal et al. (2025) [15]</a:t>
                      </a:r>
                    </a:p>
                  </a:txBody>
                  <a:tcPr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02020"/>
                          </a:solidFill>
                          <a:latin typeface="Times New Roman"/>
                        </a:defRPr>
                      </a:pPr>
                      <a:r>
                        <a:t>Random Forest, XGBoost</a:t>
                      </a:r>
                    </a:p>
                  </a:txBody>
                  <a:tcPr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02020"/>
                          </a:solidFill>
                          <a:latin typeface="Times New Roman"/>
                        </a:defRPr>
                      </a:pPr>
                      <a:r>
                        <a:t>Standard SMOTE</a:t>
                      </a:r>
                    </a:p>
                  </a:txBody>
                  <a:tcPr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02020"/>
                          </a:solidFill>
                          <a:latin typeface="Times New Roman"/>
                        </a:defRPr>
                      </a:pPr>
                      <a:r>
                        <a:t>SHAP and LIME</a:t>
                      </a:r>
                    </a:p>
                  </a:txBody>
                  <a:tcPr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02020"/>
                          </a:solidFill>
                          <a:latin typeface="Times New Roman"/>
                        </a:defRPr>
                      </a:pPr>
                      <a:r>
                        <a:t>Jupyter Notebook</a:t>
                      </a:r>
                    </a:p>
                  </a:txBody>
                  <a:tcPr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02020"/>
                          </a:solidFill>
                          <a:latin typeface="Times New Roman"/>
                        </a:defRPr>
                      </a:pPr>
                      <a:r>
                        <a:t>Supervised-only; lacks streaming ingestion and security.</a:t>
                      </a:r>
                    </a:p>
                  </a:txBody>
                  <a:tcPr>
                    <a:solidFill>
                      <a:srgbClr val="F4F7FA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059669"/>
                          </a:solidFill>
                          <a:latin typeface="Times New Roman"/>
                        </a:defRPr>
                      </a:pPr>
                      <a:r>
                        <a:t>FraudGuard AI (This Work)</a:t>
                      </a:r>
                    </a:p>
                  </a:txBody>
                  <a:tcPr>
                    <a:solidFill>
                      <a:srgbClr val="E6F4E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202020"/>
                          </a:solidFill>
                          <a:latin typeface="Times New Roman"/>
                        </a:defRPr>
                      </a:pPr>
                      <a:r>
                        <a:t>RF, XGBoost, Deep MLP, Autoencoder</a:t>
                      </a:r>
                    </a:p>
                  </a:txBody>
                  <a:tcPr>
                    <a:solidFill>
                      <a:srgbClr val="E6F4E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202020"/>
                          </a:solidFill>
                          <a:latin typeface="Times New Roman"/>
                        </a:defRPr>
                      </a:pPr>
                      <a:r>
                        <a:t>SMOTE-NC (Train Only)</a:t>
                      </a:r>
                    </a:p>
                  </a:txBody>
                  <a:tcPr>
                    <a:solidFill>
                      <a:srgbClr val="E6F4E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202020"/>
                          </a:solidFill>
                          <a:latin typeface="Times New Roman"/>
                        </a:defRPr>
                      </a:pPr>
                      <a:r>
                        <a:t>TreeSHAP + Forensics</a:t>
                      </a:r>
                    </a:p>
                  </a:txBody>
                  <a:tcPr>
                    <a:solidFill>
                      <a:srgbClr val="E6F4E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202020"/>
                          </a:solidFill>
                          <a:latin typeface="Times New Roman"/>
                        </a:defRPr>
                      </a:pPr>
                      <a:r>
                        <a:t>FastAPI + Streamlit + Kafka</a:t>
                      </a:r>
                    </a:p>
                  </a:txBody>
                  <a:tcPr>
                    <a:solidFill>
                      <a:srgbClr val="E6F4E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202020"/>
                          </a:solidFill>
                          <a:latin typeface="Times New Roman"/>
                        </a:defRPr>
                      </a:pPr>
                      <a:r>
                        <a:t>Consensus voting, outbox recovery, 104/104 tests pass.</a:t>
                      </a:r>
                    </a:p>
                  </a:txBody>
                  <a:tcPr>
                    <a:solidFill>
                      <a:srgbClr val="E6F4EA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5744972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9FD64C5E-26B3-2EE9-895A-F822E4C49E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2">
            <a:extLst>
              <a:ext uri="{FF2B5EF4-FFF2-40B4-BE49-F238E27FC236}">
                <a16:creationId xmlns:a16="http://schemas.microsoft.com/office/drawing/2014/main" xmlns="" id="{2E07AC55-BA5E-4123-39E6-B79860C6C9E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60248" y="681037"/>
            <a:ext cx="10515600" cy="576696"/>
          </a:xfrm>
          <a:prstGeom prst="rect">
            <a:avLst/>
          </a:prstGeom>
        </p:spPr>
        <p:txBody>
          <a:bodyPr vert="horz" wrap="square" lIns="0" tIns="113919" rIns="0" bIns="0" rtlCol="0">
            <a:spAutoFit/>
          </a:bodyPr>
          <a:lstStyle/>
          <a:p>
            <a:pPr marL="486409">
              <a:lnSpc>
                <a:spcPct val="100000"/>
              </a:lnSpc>
              <a:spcBef>
                <a:spcPts val="130"/>
              </a:spcBef>
              <a:defRPr sz="2400" b="1">
                <a:solidFill>
                  <a:srgbClr val="1F4E79"/>
                </a:solidFill>
                <a:latin typeface="Times New Roman"/>
              </a:defRPr>
            </a:pPr>
            <a:r>
              <a:t>Research Gap</a:t>
            </a:r>
            <a:endParaRPr sz="3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xmlns="" id="{A2430A72-466B-CBDE-2F02-635BA91A98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 sz="1000">
                <a:solidFill>
                  <a:srgbClr val="555555"/>
                </a:solidFill>
                <a:latin typeface="Times New Roman"/>
              </a:defRPr>
            </a:pPr>
            <a:r>
              <a:t>28/10/26</a:t>
            </a:r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xmlns="" id="{1711DDA3-7A7C-1F61-1795-3A01ED678F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 sz="1000">
                <a:solidFill>
                  <a:srgbClr val="555555"/>
                </a:solidFill>
                <a:latin typeface="Times New Roman"/>
              </a:defRPr>
            </a:pPr>
            <a:r>
              <a:t>VIT SCOPE  |  BCSE497J Project-I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xmlns="" id="{D94E3226-1DB1-3A4D-CE37-4A2AD48EF1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01FD4-9D8D-4491-815B-63C7BF4F0034}" type="slidenum">
              <a:rPr lang="en-IN" smtClean="0"/>
              <a:t>6</a:t>
            </a:fld>
            <a:endParaRPr lang="en-IN"/>
          </a:p>
        </p:txBody>
      </p:sp>
      <p:sp>
        <p:nvSpPr>
          <p:cNvPr id="7" name="Rounded Rectangle 6"/>
          <p:cNvSpPr/>
          <p:nvPr/>
        </p:nvSpPr>
        <p:spPr>
          <a:xfrm>
            <a:off x="731520" y="1645920"/>
            <a:ext cx="10698480" cy="1325880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CBD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719072"/>
            <a:ext cx="104241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50" b="1">
                <a:solidFill>
                  <a:srgbClr val="1F4E79"/>
                </a:solidFill>
                <a:latin typeface="Times New Roman"/>
              </a:defRPr>
            </a:pPr>
            <a:r>
              <a:t>Gap 1: Uncalibrated Score Fusion in Hybrid Detection Ensembles</a:t>
            </a:r>
          </a:p>
          <a:p>
            <a:pPr algn="l">
              <a:defRPr sz="1100" b="0">
                <a:solidFill>
                  <a:srgbClr val="202020"/>
                </a:solidFill>
                <a:latin typeface="Times New Roman"/>
              </a:defRPr>
            </a:pPr>
            <a:r>
              <a:t>• Existing Limitation: Prior hybrid frameworks add unstandardized reconstruction errors (raw MSE ranging from 0.01 to 50.0) directly to classifier probabilities in [0, 1] using arbitrary heuristics.</a:t>
            </a:r>
          </a:p>
          <a:p>
            <a:pPr algn="l">
              <a:defRPr sz="1100" b="1">
                <a:solidFill>
                  <a:srgbClr val="059669"/>
                </a:solidFill>
                <a:latin typeface="Times New Roman"/>
              </a:defRPr>
            </a:pPr>
            <a:r>
              <a:t>• FraudGuard AI Solution: Formulates validation-tuned threshold calibration (tau*) that maps continuous autoencoder reconstruction error into probability space before composite consensus fusion.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108960"/>
            <a:ext cx="10698480" cy="1325880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CBD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3182112"/>
            <a:ext cx="104241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50" b="1">
                <a:solidFill>
                  <a:srgbClr val="1F4E79"/>
                </a:solidFill>
                <a:latin typeface="Times New Roman"/>
              </a:defRPr>
            </a:pPr>
            <a:r>
              <a:t>Gap 2: Methodological Data Leakage &amp; Evaluation Optimism</a:t>
            </a:r>
          </a:p>
          <a:p>
            <a:pPr algn="l">
              <a:defRPr sz="1100" b="0">
                <a:solidFill>
                  <a:srgbClr val="202020"/>
                </a:solidFill>
                <a:latin typeface="Times New Roman"/>
              </a:defRPr>
            </a:pPr>
            <a:r>
              <a:t>• Existing Limitation: Widespread published practice applies SMOTE oversampling, standardization, or feature selection across the full dataset prior to splitting, leaking test information into training phases.</a:t>
            </a:r>
          </a:p>
          <a:p>
            <a:pPr algn="l">
              <a:defRPr sz="1100" b="1">
                <a:solidFill>
                  <a:srgbClr val="059669"/>
                </a:solidFill>
                <a:latin typeface="Times New Roman"/>
              </a:defRPr>
            </a:pPr>
            <a:r>
              <a:t>• FraudGuard AI Solution: Enforces strict parameter freezing strictly on training partitions; holdout test partitions remain untouched and reflect true real-world operational distributions.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4572000"/>
            <a:ext cx="10698480" cy="1325880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CBD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4645152"/>
            <a:ext cx="104241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50" b="1">
                <a:solidFill>
                  <a:srgbClr val="1F4E79"/>
                </a:solidFill>
                <a:latin typeface="Times New Roman"/>
              </a:defRPr>
            </a:pPr>
            <a:r>
              <a:t>Gap 3: Absence of Production Hardening &amp; Streaming Fault Tolerance</a:t>
            </a:r>
          </a:p>
          <a:p>
            <a:pPr algn="l">
              <a:defRPr sz="1100" b="0">
                <a:solidFill>
                  <a:srgbClr val="202020"/>
                </a:solidFill>
                <a:latin typeface="Times New Roman"/>
              </a:defRPr>
            </a:pPr>
            <a:r>
              <a:t>• Existing Limitation: Academic fraud benchmarks predominantly remain as static offline Jupyter notebooks without cryptographic authentication, role-based isolation, or streaming crash resilience.</a:t>
            </a:r>
          </a:p>
          <a:p>
            <a:pPr algn="l">
              <a:defRPr sz="1100" b="1">
                <a:solidFill>
                  <a:srgbClr val="059669"/>
                </a:solidFill>
                <a:latin typeface="Times New Roman"/>
              </a:defRPr>
            </a:pPr>
            <a:r>
              <a:t>• FraudGuard AI Solution: Deploys an event-driven Apache Kafka pipeline with transactional SQLite outbox (pending_alerts), synchronous broker ACK, and manual offset commits guaranteeing zero message loss.</a:t>
            </a:r>
          </a:p>
        </p:txBody>
      </p:sp>
    </p:spTree>
    <p:extLst>
      <p:ext uri="{BB962C8B-B14F-4D97-AF65-F5344CB8AC3E}">
        <p14:creationId xmlns:p14="http://schemas.microsoft.com/office/powerpoint/2010/main" val="262310282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FFF50AAC-0156-D6F5-7153-C791999940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2">
            <a:extLst>
              <a:ext uri="{FF2B5EF4-FFF2-40B4-BE49-F238E27FC236}">
                <a16:creationId xmlns:a16="http://schemas.microsoft.com/office/drawing/2014/main" xmlns="" id="{22BADD22-870A-4D8F-B788-CCCD5C223F9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60248" y="681037"/>
            <a:ext cx="10515600" cy="576696"/>
          </a:xfrm>
          <a:prstGeom prst="rect">
            <a:avLst/>
          </a:prstGeom>
        </p:spPr>
        <p:txBody>
          <a:bodyPr vert="horz" wrap="square" lIns="0" tIns="113919" rIns="0" bIns="0" rtlCol="0">
            <a:spAutoFit/>
          </a:bodyPr>
          <a:lstStyle/>
          <a:p>
            <a:pPr marL="486409">
              <a:lnSpc>
                <a:spcPct val="100000"/>
              </a:lnSpc>
              <a:spcBef>
                <a:spcPts val="130"/>
              </a:spcBef>
              <a:defRPr sz="2400" b="1">
                <a:solidFill>
                  <a:srgbClr val="1F4E79"/>
                </a:solidFill>
                <a:latin typeface="Times New Roman"/>
              </a:defRPr>
            </a:pPr>
            <a:r>
              <a:t>Project Objectives &amp; Sustainable Development Goals</a:t>
            </a:r>
            <a:endParaRPr sz="3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xmlns="" id="{1BE4F0EB-E8F1-14D8-E22A-38E83F9BFA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 sz="1000">
                <a:solidFill>
                  <a:srgbClr val="555555"/>
                </a:solidFill>
                <a:latin typeface="Times New Roman"/>
              </a:defRPr>
            </a:pPr>
            <a:r>
              <a:t>28/10/26</a:t>
            </a:r>
            <a:endParaRPr lang="en-IN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xmlns="" id="{76D8B93F-BA73-08B5-E0DD-D434FA25B9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 sz="1000">
                <a:solidFill>
                  <a:srgbClr val="555555"/>
                </a:solidFill>
                <a:latin typeface="Times New Roman"/>
              </a:defRPr>
            </a:pPr>
            <a:r>
              <a:t>VIT SCOPE  |  BCSE497J Project-I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xmlns="" id="{E6BABF72-E9F9-626A-63CD-EA20C0714A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01FD4-9D8D-4491-815B-63C7BF4F0034}" type="slidenum">
              <a:rPr lang="en-IN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7</a:t>
            </a:fld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8" name="Picture 7" descr="3 The UN 17 Sustainable Development Goals (SDGs), implemented by all... | Download Scientific Diagram">
            <a:extLst>
              <a:ext uri="{FF2B5EF4-FFF2-40B4-BE49-F238E27FC236}">
                <a16:creationId xmlns:a16="http://schemas.microsoft.com/office/drawing/2014/main" xmlns="" id="{36180A9B-AA72-E2D6-8362-4CDF7058D84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6720" y="4663440"/>
            <a:ext cx="1371600" cy="1188720"/>
          </a:xfrm>
          <a:prstGeom prst="rect">
            <a:avLst/>
          </a:prstGeom>
        </p:spPr>
      </p:pic>
      <p:pic>
        <p:nvPicPr>
          <p:cNvPr id="9" name="Picture 8" descr="What are Technology Readiness Levels (TRL)? - TWI">
            <a:extLst>
              <a:ext uri="{FF2B5EF4-FFF2-40B4-BE49-F238E27FC236}">
                <a16:creationId xmlns:a16="http://schemas.microsoft.com/office/drawing/2014/main" xmlns="" id="{D1491C9C-07B3-89C3-5FA0-72C9F44F30A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92640" y="4663440"/>
            <a:ext cx="1371600" cy="118872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731520" y="1645920"/>
            <a:ext cx="6858000" cy="4389120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CBD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1737360"/>
            <a:ext cx="65836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1F4E79"/>
                </a:solidFill>
                <a:latin typeface="Times New Roman"/>
              </a:defRPr>
            </a:pPr>
            <a:r>
              <a:t>Technical &amp; Research Objectives</a:t>
            </a:r>
          </a:p>
          <a:p>
            <a:pPr algn="l">
              <a:defRPr sz="1150" b="0">
                <a:solidFill>
                  <a:srgbClr val="202020"/>
                </a:solidFill>
                <a:latin typeface="Times New Roman"/>
              </a:defRPr>
            </a:pPr>
            <a:r>
              <a:t>1. Implement a leakage-free feature engineering and scaling pipeline, generating domain-specific balance forensics (deltaOrig, deltaDest, R_deplete) and restricting SMOTE-NC to training partitions.</a:t>
            </a:r>
          </a:p>
          <a:p>
            <a:pPr algn="l">
              <a:defRPr sz="1150" b="0">
                <a:solidFill>
                  <a:srgbClr val="202020"/>
                </a:solidFill>
                <a:latin typeface="Times New Roman"/>
              </a:defRPr>
            </a:pPr>
            <a:r>
              <a:t>2. Design and optimize four diverse model architectures: Random Forest, XGBoost, Deep Neural Network (MLP), and Deep Bottleneck Autoencoder.</a:t>
            </a:r>
          </a:p>
          <a:p>
            <a:pPr algn="l">
              <a:defRPr sz="1150" b="0">
                <a:solidFill>
                  <a:srgbClr val="202020"/>
                </a:solidFill>
                <a:latin typeface="Times New Roman"/>
              </a:defRPr>
            </a:pPr>
            <a:r>
              <a:t>3. Formulate a multi-model consensus voting and scoring engine evaluating four distinct models against validation-tuned thresholds (V(x) in {0..4} and R(x)), routing decisions to operational risk tiers.</a:t>
            </a:r>
          </a:p>
          <a:p>
            <a:pPr algn="l">
              <a:defRPr sz="1150" b="0">
                <a:solidFill>
                  <a:srgbClr val="202020"/>
                </a:solidFill>
                <a:latin typeface="Times New Roman"/>
              </a:defRPr>
            </a:pPr>
            <a:r>
              <a:t>4. Integrate explainable AI capabilities, embedding TreeSHAP attributions and domain-specific balance forensics within an automated audit workflow.</a:t>
            </a:r>
          </a:p>
          <a:p>
            <a:pPr algn="l">
              <a:defRPr sz="1150" b="0">
                <a:solidFill>
                  <a:srgbClr val="202020"/>
                </a:solidFill>
                <a:latin typeface="Times New Roman"/>
              </a:defRPr>
            </a:pPr>
            <a:r>
              <a:t>5. Develop and containerize a secure, authenticated RESTful API (FastAPI) and interactive dashboard (Streamlit) featuring salted PBKDF2/bcrypt hashing, lockout throttling, RBAC, and SQLite audit storage.</a:t>
            </a:r>
          </a:p>
          <a:p>
            <a:pPr algn="l">
              <a:defRPr sz="1150" b="0">
                <a:solidFill>
                  <a:srgbClr val="202020"/>
                </a:solidFill>
                <a:latin typeface="Times New Roman"/>
              </a:defRPr>
            </a:pPr>
            <a:r>
              <a:t>6. Construct an event-driven Apache Kafka real-time streaming pipeline capable of processing live transaction feeds with sub-150 ms end-to-end latency.</a:t>
            </a:r>
          </a:p>
          <a:p>
            <a:pPr algn="l">
              <a:defRPr sz="1150" b="0">
                <a:solidFill>
                  <a:srgbClr val="202020"/>
                </a:solidFill>
                <a:latin typeface="Times New Roman"/>
              </a:defRPr>
            </a:pPr>
            <a:r>
              <a:t>7. Validate system robustness through a 104-test automated regression suite and comprehensive latency/concurrency benchmarking.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0" y="1645920"/>
            <a:ext cx="3657600" cy="4389120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CBD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09560" y="1737360"/>
            <a:ext cx="33832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1F4E79"/>
                </a:solidFill>
                <a:latin typeface="Times New Roman"/>
              </a:defRPr>
            </a:pPr>
            <a:r>
              <a:t>Identified SDGs &amp; Outcomes</a:t>
            </a:r>
          </a:p>
          <a:p>
            <a:pPr algn="l">
              <a:defRPr sz="1100" b="0">
                <a:solidFill>
                  <a:srgbClr val="202020"/>
                </a:solidFill>
                <a:latin typeface="Times New Roman"/>
              </a:defRPr>
            </a:pPr>
            <a:r>
              <a:t>• SDG 8 (Decent Work &amp; Economic Growth): Target 8.10 – Strengthen financial capacity and protect transaction integrity against fraud loss.</a:t>
            </a:r>
          </a:p>
          <a:p>
            <a:pPr algn="l">
              <a:defRPr sz="1100" b="0">
                <a:solidFill>
                  <a:srgbClr val="202020"/>
                </a:solidFill>
                <a:latin typeface="Times New Roman"/>
              </a:defRPr>
            </a:pPr>
            <a:r>
              <a:t>• SDG 9 (Industry, Innovation &amp; Infrastructure): Target 9.5 – Upgrade technological capabilities and build resilient automated financial infrastructure.</a:t>
            </a:r>
          </a:p>
          <a:p>
            <a:pPr algn="l">
              <a:defRPr sz="1100" b="0">
                <a:solidFill>
                  <a:srgbClr val="202020"/>
                </a:solidFill>
                <a:latin typeface="Times New Roman"/>
              </a:defRPr>
            </a:pPr>
            <a:r>
              <a:t>• SDG 16 (Peace, Justice &amp; Strong Institutions): Target 16.5 – Substantially reduce corruption, illicit financial flows, and financial crime.</a:t>
            </a:r>
          </a:p>
          <a:p>
            <a:pPr algn="l">
              <a:defRPr sz="600" b="0">
                <a:solidFill>
                  <a:srgbClr val="202020"/>
                </a:solidFill>
                <a:latin typeface="Times New Roman"/>
              </a:defRPr>
            </a:pPr>
          </a:p>
          <a:p>
            <a:pPr algn="l">
              <a:defRPr sz="1300" b="1">
                <a:solidFill>
                  <a:srgbClr val="059669"/>
                </a:solidFill>
                <a:latin typeface="Times New Roman"/>
              </a:defRPr>
            </a:pPr>
            <a:r>
              <a:t>Expected Project Outcomes:</a:t>
            </a:r>
          </a:p>
          <a:p>
            <a:pPr algn="l">
              <a:defRPr sz="1100" b="0">
                <a:solidFill>
                  <a:srgbClr val="202020"/>
                </a:solidFill>
                <a:latin typeface="Times New Roman"/>
              </a:defRPr>
            </a:pPr>
            <a:r>
              <a:t>• Full-Stack Production Software Product</a:t>
            </a:r>
          </a:p>
          <a:p>
            <a:pPr algn="l">
              <a:defRPr sz="1100" b="0">
                <a:solidFill>
                  <a:srgbClr val="202020"/>
                </a:solidFill>
                <a:latin typeface="Times New Roman"/>
              </a:defRPr>
            </a:pPr>
            <a:r>
              <a:t>• Open-Source GitHub Repository</a:t>
            </a:r>
          </a:p>
          <a:p>
            <a:pPr algn="l">
              <a:defRPr sz="1100" b="0">
                <a:solidFill>
                  <a:srgbClr val="202020"/>
                </a:solidFill>
                <a:latin typeface="Times New Roman"/>
              </a:defRPr>
            </a:pPr>
            <a:r>
              <a:t>• Comprehensive 41-page Academic Report</a:t>
            </a:r>
          </a:p>
          <a:p>
            <a:pPr algn="l">
              <a:defRPr sz="1100" b="0">
                <a:solidFill>
                  <a:srgbClr val="202020"/>
                </a:solidFill>
                <a:latin typeface="Times New Roman"/>
              </a:defRPr>
            </a:pPr>
            <a:r>
              <a:t>• Target: Scopus Indexed Conference / Journal</a:t>
            </a:r>
          </a:p>
        </p:txBody>
      </p:sp>
    </p:spTree>
    <p:extLst>
      <p:ext uri="{BB962C8B-B14F-4D97-AF65-F5344CB8AC3E}">
        <p14:creationId xmlns:p14="http://schemas.microsoft.com/office/powerpoint/2010/main" val="233596249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08D49C0F-2490-21B4-8186-6F75540ACE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2">
            <a:extLst>
              <a:ext uri="{FF2B5EF4-FFF2-40B4-BE49-F238E27FC236}">
                <a16:creationId xmlns:a16="http://schemas.microsoft.com/office/drawing/2014/main" xmlns="" id="{5DE9EA00-8D77-8DC9-1AE3-8B6FD1AF6BC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60248" y="681037"/>
            <a:ext cx="10515600" cy="576696"/>
          </a:xfrm>
          <a:prstGeom prst="rect">
            <a:avLst/>
          </a:prstGeom>
        </p:spPr>
        <p:txBody>
          <a:bodyPr vert="horz" wrap="square" lIns="0" tIns="113919" rIns="0" bIns="0" rtlCol="0">
            <a:spAutoFit/>
          </a:bodyPr>
          <a:lstStyle/>
          <a:p>
            <a:pPr marL="486409">
              <a:lnSpc>
                <a:spcPct val="100000"/>
              </a:lnSpc>
              <a:spcBef>
                <a:spcPts val="130"/>
              </a:spcBef>
              <a:defRPr sz="2400" b="1">
                <a:solidFill>
                  <a:srgbClr val="1F4E79"/>
                </a:solidFill>
                <a:latin typeface="Times New Roman"/>
              </a:defRPr>
            </a:pPr>
            <a:r>
              <a:t>System Architecture &amp; Consensus Pipeline</a:t>
            </a:r>
            <a:endParaRPr sz="3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xmlns="" id="{3B40592E-46EE-B4F2-7D01-D3568C2F68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 sz="1000">
                <a:solidFill>
                  <a:srgbClr val="555555"/>
                </a:solidFill>
                <a:latin typeface="Times New Roman"/>
              </a:defRPr>
            </a:pPr>
            <a:r>
              <a:t>28/10/26</a:t>
            </a:r>
            <a:endParaRPr lang="en-IN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xmlns="" id="{5BCDC439-5940-84EE-247A-E3018795A4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 sz="1000">
                <a:solidFill>
                  <a:srgbClr val="555555"/>
                </a:solidFill>
                <a:latin typeface="Times New Roman"/>
              </a:defRPr>
            </a:pPr>
            <a:r>
              <a:t>VIT SCOPE  |  BCSE497J Project-I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xmlns="" id="{A6CB23C8-7091-8CFB-BF2C-3A19CCA810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01FD4-9D8D-4491-815B-63C7BF4F0034}" type="slidenum">
              <a:rPr lang="en-IN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8</a:t>
            </a:fld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554480"/>
            <a:ext cx="6858000" cy="438912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772400" y="1554480"/>
            <a:ext cx="3657600" cy="4389120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CBD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09560" y="1645920"/>
            <a:ext cx="33832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1F4E79"/>
                </a:solidFill>
                <a:latin typeface="Times New Roman"/>
              </a:defRPr>
            </a:pPr>
            <a:r>
              <a:t>Modular 4-Tier Architecture</a:t>
            </a:r>
          </a:p>
          <a:p>
            <a:pPr algn="l">
              <a:defRPr sz="1100" b="0">
                <a:solidFill>
                  <a:srgbClr val="202020"/>
                </a:solidFill>
                <a:latin typeface="Times New Roman"/>
              </a:defRPr>
            </a:pPr>
            <a:r>
              <a:t>• Tier 1: Ingestion &amp; Preprocessing: Schema validation, RobustScaler IQR bounds, median imputation, and ledger balance discrepancy engineering.</a:t>
            </a:r>
          </a:p>
          <a:p>
            <a:pPr algn="l">
              <a:defRPr sz="1100" b="0">
                <a:solidFill>
                  <a:srgbClr val="202020"/>
                </a:solidFill>
                <a:latin typeface="Times New Roman"/>
              </a:defRPr>
            </a:pPr>
            <a:r>
              <a:t>• Tier 2: Multi-Model Scoring Engine: Concurrent execution of Random Forest, XGBoost, Deep MLP, and Deep Autoencoder with validation-tuned threshold evaluation.</a:t>
            </a:r>
          </a:p>
          <a:p>
            <a:pPr algn="l">
              <a:defRPr sz="1100" b="0">
                <a:solidFill>
                  <a:srgbClr val="202020"/>
                </a:solidFill>
                <a:latin typeface="Times New Roman"/>
              </a:defRPr>
            </a:pPr>
            <a:r>
              <a:t>• Tier 3: Explainability &amp; Auditing: TreeSHAP local attributions and automated ledger balance tampering checks complying with GDPR Art. 22.</a:t>
            </a:r>
          </a:p>
          <a:p>
            <a:pPr algn="l">
              <a:defRPr sz="1100" b="0">
                <a:solidFill>
                  <a:srgbClr val="202020"/>
                </a:solidFill>
                <a:latin typeface="Times New Roman"/>
              </a:defRPr>
            </a:pPr>
            <a:r>
              <a:t>• Tier 4: Service Delivery &amp; Streaming: Containerized FastAPI REST gateway, multi-tenant Streamlit portal, Apache Kafka pub/sub, SQLite persistent store.</a:t>
            </a:r>
          </a:p>
        </p:txBody>
      </p:sp>
    </p:spTree>
    <p:extLst>
      <p:ext uri="{BB962C8B-B14F-4D97-AF65-F5344CB8AC3E}">
        <p14:creationId xmlns:p14="http://schemas.microsoft.com/office/powerpoint/2010/main" val="6381353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7FE95AF1-B807-AC15-9C1A-B86677AF63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2">
            <a:extLst>
              <a:ext uri="{FF2B5EF4-FFF2-40B4-BE49-F238E27FC236}">
                <a16:creationId xmlns:a16="http://schemas.microsoft.com/office/drawing/2014/main" xmlns="" id="{0C9A0194-5820-F292-3A94-449C000E51A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60248" y="681037"/>
            <a:ext cx="10515600" cy="576696"/>
          </a:xfrm>
          <a:prstGeom prst="rect">
            <a:avLst/>
          </a:prstGeom>
        </p:spPr>
        <p:txBody>
          <a:bodyPr vert="horz" wrap="square" lIns="0" tIns="113919" rIns="0" bIns="0" rtlCol="0">
            <a:spAutoFit/>
          </a:bodyPr>
          <a:lstStyle/>
          <a:p>
            <a:pPr marL="486409">
              <a:lnSpc>
                <a:spcPct val="100000"/>
              </a:lnSpc>
              <a:spcBef>
                <a:spcPts val="130"/>
              </a:spcBef>
              <a:defRPr sz="2400" b="1">
                <a:solidFill>
                  <a:srgbClr val="1F4E79"/>
                </a:solidFill>
                <a:latin typeface="Times New Roman"/>
              </a:defRPr>
            </a:pPr>
            <a:r>
              <a:t>Functional Requirements &amp; System Specifications</a:t>
            </a:r>
            <a:endParaRPr sz="3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xmlns="" id="{D4F25267-3005-EC45-A624-B78484DFA4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 sz="1000">
                <a:solidFill>
                  <a:srgbClr val="555555"/>
                </a:solidFill>
                <a:latin typeface="Times New Roman"/>
              </a:defRPr>
            </a:pPr>
            <a:r>
              <a:t>28/10/26</a:t>
            </a:r>
            <a:endParaRPr lang="en-IN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xmlns="" id="{610022FF-AD0C-E15E-5F17-B2827B5546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 sz="1000">
                <a:solidFill>
                  <a:srgbClr val="555555"/>
                </a:solidFill>
                <a:latin typeface="Times New Roman"/>
              </a:defRPr>
            </a:pPr>
            <a:r>
              <a:t>VIT SCOPE  |  BCSE497J Project-I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xmlns="" id="{BD8D6198-8B2C-26FB-53D2-A5B87C95A4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01FD4-9D8D-4491-815B-63C7BF4F0034}" type="slidenum">
              <a:rPr lang="en-IN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9</a:t>
            </a:fld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731520" y="1645920"/>
            <a:ext cx="5120640" cy="4389120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CBD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737360"/>
            <a:ext cx="48463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1F4E79"/>
                </a:solidFill>
                <a:latin typeface="Times New Roman"/>
              </a:defRPr>
            </a:pPr>
            <a:r>
              <a:t>Core Functional Requirements (FR)</a:t>
            </a:r>
          </a:p>
          <a:p>
            <a:pPr algn="l">
              <a:defRPr sz="1150" b="0">
                <a:solidFill>
                  <a:srgbClr val="202020"/>
                </a:solidFill>
                <a:latin typeface="Times New Roman"/>
              </a:defRPr>
            </a:pPr>
            <a:r>
              <a:t>• FR-1: Real-Time Ingestion: Ingest transactions via synchronous REST API JSON payloads or real-time event-driven Apache Kafka topic streams (financial.transactions).</a:t>
            </a:r>
          </a:p>
          <a:p>
            <a:pPr algn="l">
              <a:defRPr sz="1150" b="0">
                <a:solidFill>
                  <a:srgbClr val="202020"/>
                </a:solidFill>
                <a:latin typeface="Times New Roman"/>
              </a:defRPr>
            </a:pPr>
            <a:r>
              <a:t>• FR-2: Consensus Risk Scoring: Concurrently evaluate records across 4 diverse ML/DL models; compute affirmative vote count V(x) in {0..4} and composite risk score R(x).</a:t>
            </a:r>
          </a:p>
          <a:p>
            <a:pPr algn="l">
              <a:defRPr sz="1150" b="0">
                <a:solidFill>
                  <a:srgbClr val="202020"/>
                </a:solidFill>
                <a:latin typeface="Times New Roman"/>
              </a:defRPr>
            </a:pPr>
            <a:r>
              <a:t>• FR-3: Operational Risk Tiering: Triage transactions into 3 actionable tiers: Low Risk (No Flag), Medium Risk (Flag for Review), and High Risk (Immediate Alert).</a:t>
            </a:r>
          </a:p>
          <a:p>
            <a:pPr algn="l">
              <a:defRPr sz="1150" b="0">
                <a:solidFill>
                  <a:srgbClr val="202020"/>
                </a:solidFill>
                <a:latin typeface="Times New Roman"/>
              </a:defRPr>
            </a:pPr>
            <a:r>
              <a:t>• FR-4: Explainable Forensics: Generate local TreeSHAP waterfall charts and exact balance delta indicators (deltaOrig, deltaDest) for every scored transaction.</a:t>
            </a:r>
          </a:p>
          <a:p>
            <a:pPr algn="l">
              <a:defRPr sz="1150" b="0">
                <a:solidFill>
                  <a:srgbClr val="202020"/>
                </a:solidFill>
                <a:latin typeface="Times New Roman"/>
              </a:defRPr>
            </a:pPr>
            <a:r>
              <a:t>• FR-5: Batch Processing &amp; Export: Ingest and score multi-thousand row CSV datasets with persistent history and downloadable filtered CSV reports.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645920"/>
            <a:ext cx="5120640" cy="4389120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CBD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55080" y="1737360"/>
            <a:ext cx="48463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1F4E79"/>
                </a:solidFill>
                <a:latin typeface="Times New Roman"/>
              </a:defRPr>
            </a:pPr>
            <a:r>
              <a:t>Security &amp; Reliability Specifications (NFR)</a:t>
            </a:r>
          </a:p>
          <a:p>
            <a:pPr algn="l">
              <a:defRPr sz="1150" b="0">
                <a:solidFill>
                  <a:srgbClr val="202020"/>
                </a:solidFill>
                <a:latin typeface="Times New Roman"/>
              </a:defRPr>
            </a:pPr>
            <a:r>
              <a:t>• NFR-1: Cryptographic Authentication: Salted PBKDF2-HMAC-SHA256 (600,000 iterations) and bcrypt hashing; account lockout after 5 consecutive failed logins (15-min lock).</a:t>
            </a:r>
          </a:p>
          <a:p>
            <a:pPr algn="l">
              <a:defRPr sz="1150" b="0">
                <a:solidFill>
                  <a:srgbClr val="202020"/>
                </a:solidFill>
                <a:latin typeface="Times New Roman"/>
              </a:defRPr>
            </a:pPr>
            <a:r>
              <a:t>• NFR-2: Strict Deployment Secrets: Zero-fallback environment secret enforcement via ${FRAUDGUARD_API_KEY:?Set FRAUDGUARD_API_KEY} in Docker Compose.</a:t>
            </a:r>
          </a:p>
          <a:p>
            <a:pPr algn="l">
              <a:defRPr sz="1150" b="0">
                <a:solidFill>
                  <a:srgbClr val="202020"/>
                </a:solidFill>
                <a:latin typeface="Times New Roman"/>
              </a:defRPr>
            </a:pPr>
            <a:r>
              <a:t>• NFR-3: Transactional Outbox &amp; Crash Recovery: Persistent SQLite pending_alerts table ensuring at-least-once alert delivery on worker crash and offset replay.</a:t>
            </a:r>
          </a:p>
          <a:p>
            <a:pPr algn="l">
              <a:defRPr sz="1150" b="0">
                <a:solidFill>
                  <a:srgbClr val="202020"/>
                </a:solidFill>
                <a:latin typeface="Times New Roman"/>
              </a:defRPr>
            </a:pPr>
            <a:r>
              <a:t>• NFR-4: Sub-100 ms Scoring Latency: Direct model tensor invocation achieves 44.16 ms mean scoring latency with 25.5 requests/sec single-worker throughput.</a:t>
            </a:r>
          </a:p>
          <a:p>
            <a:pPr algn="l">
              <a:defRPr sz="1150" b="0">
                <a:solidFill>
                  <a:srgbClr val="202020"/>
                </a:solidFill>
                <a:latin typeface="Times New Roman"/>
              </a:defRPr>
            </a:pPr>
            <a:r>
              <a:t>• NFR-5: High Concurrency: SQLite WAL mode supporting concurrent analyst write sessions without thread locking or database corruption.</a:t>
            </a:r>
          </a:p>
        </p:txBody>
      </p:sp>
    </p:spTree>
    <p:extLst>
      <p:ext uri="{BB962C8B-B14F-4D97-AF65-F5344CB8AC3E}">
        <p14:creationId xmlns:p14="http://schemas.microsoft.com/office/powerpoint/2010/main" val="319129921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4D42F2ED-50F9-3DFA-95BB-1A1059C5D8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2">
            <a:extLst>
              <a:ext uri="{FF2B5EF4-FFF2-40B4-BE49-F238E27FC236}">
                <a16:creationId xmlns:a16="http://schemas.microsoft.com/office/drawing/2014/main" xmlns="" id="{B27DA514-48FC-4BF4-8205-DE21D456C5F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60248" y="681037"/>
            <a:ext cx="10515600" cy="576696"/>
          </a:xfrm>
          <a:prstGeom prst="rect">
            <a:avLst/>
          </a:prstGeom>
        </p:spPr>
        <p:txBody>
          <a:bodyPr vert="horz" wrap="square" lIns="0" tIns="113919" rIns="0" bIns="0" rtlCol="0">
            <a:spAutoFit/>
          </a:bodyPr>
          <a:lstStyle/>
          <a:p>
            <a:pPr marL="486409">
              <a:lnSpc>
                <a:spcPct val="100000"/>
              </a:lnSpc>
              <a:spcBef>
                <a:spcPts val="130"/>
              </a:spcBef>
              <a:defRPr sz="2400" b="1">
                <a:solidFill>
                  <a:srgbClr val="1F4E79"/>
                </a:solidFill>
                <a:latin typeface="Times New Roman"/>
              </a:defRPr>
            </a:pPr>
            <a:r>
              <a:t>Software Modules &amp; Streaming Pipeline</a:t>
            </a:r>
            <a:endParaRPr sz="3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xmlns="" id="{D74A04E0-6631-130F-A154-C85D978EA3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 sz="1000">
                <a:solidFill>
                  <a:srgbClr val="555555"/>
                </a:solidFill>
                <a:latin typeface="Times New Roman"/>
              </a:defRPr>
            </a:pPr>
            <a:r>
              <a:t>28/10/26</a:t>
            </a:r>
            <a:endParaRPr lang="en-IN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xmlns="" id="{39615995-EDEB-C984-B852-1229C23B1A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 sz="1000">
                <a:solidFill>
                  <a:srgbClr val="555555"/>
                </a:solidFill>
                <a:latin typeface="Times New Roman"/>
              </a:defRPr>
            </a:pPr>
            <a:r>
              <a:t>VIT SCOPE  |  BCSE497J Project-I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xmlns="" id="{067F5109-389C-3E37-E553-A559233EFD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01FD4-9D8D-4491-815B-63C7BF4F0034}" type="slidenum">
              <a:rPr lang="en-IN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10</a:t>
            </a:fld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554480"/>
            <a:ext cx="6217920" cy="438912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132320" y="1554480"/>
            <a:ext cx="4297680" cy="4389120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CBD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269480" y="1645920"/>
            <a:ext cx="40233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1F4E79"/>
                </a:solidFill>
                <a:latin typeface="Times New Roman"/>
              </a:defRPr>
            </a:pPr>
            <a:r>
              <a:t>Implemented System Modules</a:t>
            </a:r>
          </a:p>
          <a:p>
            <a:pPr algn="l">
              <a:defRPr sz="1100" b="0">
                <a:solidFill>
                  <a:srgbClr val="202020"/>
                </a:solidFill>
                <a:latin typeface="Times New Roman"/>
              </a:defRPr>
            </a:pPr>
            <a:r>
              <a:t>• Module 1: Preprocessor &amp; Feature Forensics (src/preprocessor.py): Quantile RobustScaler fitting, median imputation, discrepancy features: deltaOrig = newOrig + amount - oldOrig, deltaDest = oldDest + amount - newDest.</a:t>
            </a:r>
          </a:p>
          <a:p>
            <a:pPr algn="l">
              <a:defRPr sz="1100" b="0">
                <a:solidFill>
                  <a:srgbClr val="202020"/>
                </a:solidFill>
                <a:latin typeface="Times New Roman"/>
              </a:defRPr>
            </a:pPr>
            <a:r>
              <a:t>• Module 2: Consensus Scoring Engine (src/model_comparison.py): Evaluates 4 diverse models against validation thresholds tau*; maps votes V(x) and composite score R(x) to operational risk tiers.</a:t>
            </a:r>
          </a:p>
          <a:p>
            <a:pPr algn="l">
              <a:defRPr sz="1100" b="0">
                <a:solidFill>
                  <a:srgbClr val="202020"/>
                </a:solidFill>
                <a:latin typeface="Times New Roman"/>
              </a:defRPr>
            </a:pPr>
            <a:r>
              <a:t>• Module 3: Explainability &amp; Forensics (src/transaction_explanation.py): Generates local TreeSHAP waterfall plots, global beeswarm rankings, and deterministic direction explanations.</a:t>
            </a:r>
          </a:p>
          <a:p>
            <a:pPr algn="l">
              <a:defRPr sz="1100" b="0">
                <a:solidFill>
                  <a:srgbClr val="202020"/>
                </a:solidFill>
                <a:latin typeface="Times New Roman"/>
              </a:defRPr>
            </a:pPr>
            <a:r>
              <a:t>• Module 4: Fault-Tolerant Streaming &amp; Security (src/kafka_streaming.py, src/api.py, src/workspace_store.py): Real-time Kafka consumer, transactional outbox (pending_alerts), synchronous broker ACK, and SQLite auth.</a:t>
            </a:r>
          </a:p>
        </p:txBody>
      </p:sp>
    </p:spTree>
    <p:extLst>
      <p:ext uri="{BB962C8B-B14F-4D97-AF65-F5344CB8AC3E}">
        <p14:creationId xmlns:p14="http://schemas.microsoft.com/office/powerpoint/2010/main" val="379987032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121556E8-0003-02C5-D37D-A5CC4CE44D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2">
            <a:extLst>
              <a:ext uri="{FF2B5EF4-FFF2-40B4-BE49-F238E27FC236}">
                <a16:creationId xmlns:a16="http://schemas.microsoft.com/office/drawing/2014/main" xmlns="" id="{E386D544-A80A-B599-44C7-B40BA6ECC63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60248" y="681037"/>
            <a:ext cx="10515600" cy="576696"/>
          </a:xfrm>
          <a:prstGeom prst="rect">
            <a:avLst/>
          </a:prstGeom>
        </p:spPr>
        <p:txBody>
          <a:bodyPr vert="horz" wrap="square" lIns="0" tIns="113919" rIns="0" bIns="0" rtlCol="0">
            <a:spAutoFit/>
          </a:bodyPr>
          <a:lstStyle/>
          <a:p>
            <a:pPr marL="486409">
              <a:lnSpc>
                <a:spcPct val="100000"/>
              </a:lnSpc>
              <a:spcBef>
                <a:spcPts val="130"/>
              </a:spcBef>
              <a:defRPr sz="2400" b="1">
                <a:solidFill>
                  <a:srgbClr val="1F4E79"/>
                </a:solidFill>
                <a:latin typeface="Times New Roman"/>
              </a:defRPr>
            </a:pPr>
            <a:r>
              <a:t>Experimental Evaluation &amp; Performance Results</a:t>
            </a:r>
            <a:endParaRPr sz="3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xmlns="" id="{5D376B32-FA12-4961-0DBF-EE57A7705B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 sz="1000">
                <a:solidFill>
                  <a:srgbClr val="555555"/>
                </a:solidFill>
                <a:latin typeface="Times New Roman"/>
              </a:defRPr>
            </a:pPr>
            <a:r>
              <a:t>28/10/26</a:t>
            </a:r>
            <a:endParaRPr lang="en-IN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xmlns="" id="{8B0EF323-27AB-5372-4287-A24CA54114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 sz="1000">
                <a:solidFill>
                  <a:srgbClr val="555555"/>
                </a:solidFill>
                <a:latin typeface="Times New Roman"/>
              </a:defRPr>
            </a:pPr>
            <a:r>
              <a:t>VIT SCOPE  |  BCSE497J Project-I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xmlns="" id="{76AAAC16-1233-230F-5D3B-645E6B2832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01FD4-9D8D-4491-815B-63C7BF4F0034}" type="slidenum">
              <a:rPr lang="en-IN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11</a:t>
            </a:fld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31520" y="1554480"/>
          <a:ext cx="987552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914400"/>
                <a:gridCol w="914400"/>
                <a:gridCol w="914400"/>
                <a:gridCol w="914400"/>
                <a:gridCol w="1005840"/>
                <a:gridCol w="1005840"/>
                <a:gridCol w="731520"/>
                <a:gridCol w="731520"/>
                <a:gridCol w="731520"/>
              </a:tblGrid>
              <a:tr h="381000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Model Architecture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Accuracy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Precision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Recall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F1-Score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ROC-AUC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PR-AUC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TP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FP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FN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algn="l">
                        <a:defRPr sz="950" b="0">
                          <a:solidFill>
                            <a:srgbClr val="202020"/>
                          </a:solidFill>
                          <a:latin typeface="Times New Roman"/>
                        </a:defRPr>
                      </a:pPr>
                      <a:r>
                        <a:t>Random Forest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0">
                          <a:solidFill>
                            <a:srgbClr val="202020"/>
                          </a:solidFill>
                          <a:latin typeface="Times New Roman"/>
                        </a:defRPr>
                      </a:pPr>
                      <a:r>
                        <a:t>99.60%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0">
                          <a:solidFill>
                            <a:srgbClr val="202020"/>
                          </a:solidFill>
                          <a:latin typeface="Times New Roman"/>
                        </a:defRPr>
                      </a:pPr>
                      <a:r>
                        <a:t>0.8235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0">
                          <a:solidFill>
                            <a:srgbClr val="202020"/>
                          </a:solidFill>
                          <a:latin typeface="Times New Roman"/>
                        </a:defRPr>
                      </a:pPr>
                      <a:r>
                        <a:t>0.9333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0">
                          <a:solidFill>
                            <a:srgbClr val="202020"/>
                          </a:solidFill>
                          <a:latin typeface="Times New Roman"/>
                        </a:defRPr>
                      </a:pPr>
                      <a:r>
                        <a:t>0.8750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0">
                          <a:solidFill>
                            <a:srgbClr val="202020"/>
                          </a:solidFill>
                          <a:latin typeface="Times New Roman"/>
                        </a:defRPr>
                      </a:pPr>
                      <a:r>
                        <a:t>0.9989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0">
                          <a:solidFill>
                            <a:srgbClr val="202020"/>
                          </a:solidFill>
                          <a:latin typeface="Times New Roman"/>
                        </a:defRPr>
                      </a:pPr>
                      <a:r>
                        <a:t>0.9581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0">
                          <a:solidFill>
                            <a:srgbClr val="202020"/>
                          </a:solidFill>
                          <a:latin typeface="Times New Roman"/>
                        </a:defRPr>
                      </a:pPr>
                      <a:r>
                        <a:t>42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0">
                          <a:solidFill>
                            <a:srgbClr val="202020"/>
                          </a:solidFill>
                          <a:latin typeface="Times New Roman"/>
                        </a:defRPr>
                      </a:pPr>
                      <a: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0">
                          <a:solidFill>
                            <a:srgbClr val="202020"/>
                          </a:solidFill>
                          <a:latin typeface="Times New Roman"/>
                        </a:defRPr>
                      </a:pPr>
                      <a: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algn="l">
                        <a:defRPr sz="950" b="0">
                          <a:solidFill>
                            <a:srgbClr val="202020"/>
                          </a:solidFill>
                          <a:latin typeface="Times New Roman"/>
                        </a:defRPr>
                      </a:pPr>
                      <a:r>
                        <a:t>XGBoost</a:t>
                      </a:r>
                    </a:p>
                  </a:txBody>
                  <a:tcPr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0">
                          <a:solidFill>
                            <a:srgbClr val="202020"/>
                          </a:solidFill>
                          <a:latin typeface="Times New Roman"/>
                        </a:defRPr>
                      </a:pPr>
                      <a:r>
                        <a:t>99.67%</a:t>
                      </a:r>
                    </a:p>
                  </a:txBody>
                  <a:tcPr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0">
                          <a:solidFill>
                            <a:srgbClr val="202020"/>
                          </a:solidFill>
                          <a:latin typeface="Times New Roman"/>
                        </a:defRPr>
                      </a:pPr>
                      <a:r>
                        <a:t>0.8889</a:t>
                      </a:r>
                    </a:p>
                  </a:txBody>
                  <a:tcPr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0">
                          <a:solidFill>
                            <a:srgbClr val="202020"/>
                          </a:solidFill>
                          <a:latin typeface="Times New Roman"/>
                        </a:defRPr>
                      </a:pPr>
                      <a:r>
                        <a:t>0.8889</a:t>
                      </a:r>
                    </a:p>
                  </a:txBody>
                  <a:tcPr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0">
                          <a:solidFill>
                            <a:srgbClr val="202020"/>
                          </a:solidFill>
                          <a:latin typeface="Times New Roman"/>
                        </a:defRPr>
                      </a:pPr>
                      <a:r>
                        <a:t>0.8889</a:t>
                      </a:r>
                    </a:p>
                  </a:txBody>
                  <a:tcPr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0">
                          <a:solidFill>
                            <a:srgbClr val="202020"/>
                          </a:solidFill>
                          <a:latin typeface="Times New Roman"/>
                        </a:defRPr>
                      </a:pPr>
                      <a:r>
                        <a:t>0.9968</a:t>
                      </a:r>
                    </a:p>
                  </a:txBody>
                  <a:tcPr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0">
                          <a:solidFill>
                            <a:srgbClr val="202020"/>
                          </a:solidFill>
                          <a:latin typeface="Times New Roman"/>
                        </a:defRPr>
                      </a:pPr>
                      <a:r>
                        <a:t>0.9418</a:t>
                      </a:r>
                    </a:p>
                  </a:txBody>
                  <a:tcPr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0">
                          <a:solidFill>
                            <a:srgbClr val="202020"/>
                          </a:solidFill>
                          <a:latin typeface="Times New Roman"/>
                        </a:defRPr>
                      </a:pPr>
                      <a:r>
                        <a:t>40</a:t>
                      </a:r>
                    </a:p>
                  </a:txBody>
                  <a:tcPr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0">
                          <a:solidFill>
                            <a:srgbClr val="202020"/>
                          </a:solidFill>
                          <a:latin typeface="Times New Roman"/>
                        </a:defRPr>
                      </a:pPr>
                      <a:r>
                        <a:t>5</a:t>
                      </a:r>
                    </a:p>
                  </a:txBody>
                  <a:tcPr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0">
                          <a:solidFill>
                            <a:srgbClr val="202020"/>
                          </a:solidFill>
                          <a:latin typeface="Times New Roman"/>
                        </a:defRPr>
                      </a:pPr>
                      <a:r>
                        <a:t>5</a:t>
                      </a:r>
                    </a:p>
                  </a:txBody>
                  <a:tcPr>
                    <a:solidFill>
                      <a:srgbClr val="F4F7FA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algn="l">
                        <a:defRPr sz="950" b="0">
                          <a:solidFill>
                            <a:srgbClr val="202020"/>
                          </a:solidFill>
                          <a:latin typeface="Times New Roman"/>
                        </a:defRPr>
                      </a:pPr>
                      <a:r>
                        <a:t>Deep Neural Network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0">
                          <a:solidFill>
                            <a:srgbClr val="202020"/>
                          </a:solidFill>
                          <a:latin typeface="Times New Roman"/>
                        </a:defRPr>
                      </a:pPr>
                      <a:r>
                        <a:t>99.83%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0">
                          <a:solidFill>
                            <a:srgbClr val="202020"/>
                          </a:solidFill>
                          <a:latin typeface="Times New Roman"/>
                        </a:defRPr>
                      </a:pPr>
                      <a:r>
                        <a:t>1.0000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0">
                          <a:solidFill>
                            <a:srgbClr val="202020"/>
                          </a:solidFill>
                          <a:latin typeface="Times New Roman"/>
                        </a:defRPr>
                      </a:pPr>
                      <a:r>
                        <a:t>0.8889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0">
                          <a:solidFill>
                            <a:srgbClr val="202020"/>
                          </a:solidFill>
                          <a:latin typeface="Times New Roman"/>
                        </a:defRPr>
                      </a:pPr>
                      <a:r>
                        <a:t>0.9412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0">
                          <a:solidFill>
                            <a:srgbClr val="202020"/>
                          </a:solidFill>
                          <a:latin typeface="Times New Roman"/>
                        </a:defRPr>
                      </a:pPr>
                      <a:r>
                        <a:t>0.9863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0">
                          <a:solidFill>
                            <a:srgbClr val="202020"/>
                          </a:solidFill>
                          <a:latin typeface="Times New Roman"/>
                        </a:defRPr>
                      </a:pPr>
                      <a:r>
                        <a:t>0.9307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0">
                          <a:solidFill>
                            <a:srgbClr val="202020"/>
                          </a:solidFill>
                          <a:latin typeface="Times New Roman"/>
                        </a:defRPr>
                      </a:pPr>
                      <a:r>
                        <a:t>40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0">
                          <a:solidFill>
                            <a:srgbClr val="202020"/>
                          </a:solidFill>
                          <a:latin typeface="Times New Roman"/>
                        </a:defRPr>
                      </a:pPr>
                      <a: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0">
                          <a:solidFill>
                            <a:srgbClr val="202020"/>
                          </a:solidFill>
                          <a:latin typeface="Times New Roman"/>
                        </a:defRPr>
                      </a:pPr>
                      <a: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algn="l">
                        <a:defRPr sz="950" b="0">
                          <a:solidFill>
                            <a:srgbClr val="202020"/>
                          </a:solidFill>
                          <a:latin typeface="Times New Roman"/>
                        </a:defRPr>
                      </a:pPr>
                      <a:r>
                        <a:t>Deep Autoencoder</a:t>
                      </a:r>
                    </a:p>
                  </a:txBody>
                  <a:tcPr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0">
                          <a:solidFill>
                            <a:srgbClr val="202020"/>
                          </a:solidFill>
                          <a:latin typeface="Times New Roman"/>
                        </a:defRPr>
                      </a:pPr>
                      <a:r>
                        <a:t>99.83%</a:t>
                      </a:r>
                    </a:p>
                  </a:txBody>
                  <a:tcPr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0">
                          <a:solidFill>
                            <a:srgbClr val="202020"/>
                          </a:solidFill>
                          <a:latin typeface="Times New Roman"/>
                        </a:defRPr>
                      </a:pPr>
                      <a:r>
                        <a:t>0.9762</a:t>
                      </a:r>
                    </a:p>
                  </a:txBody>
                  <a:tcPr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0">
                          <a:solidFill>
                            <a:srgbClr val="202020"/>
                          </a:solidFill>
                          <a:latin typeface="Times New Roman"/>
                        </a:defRPr>
                      </a:pPr>
                      <a:r>
                        <a:t>0.9111</a:t>
                      </a:r>
                    </a:p>
                  </a:txBody>
                  <a:tcPr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0">
                          <a:solidFill>
                            <a:srgbClr val="202020"/>
                          </a:solidFill>
                          <a:latin typeface="Times New Roman"/>
                        </a:defRPr>
                      </a:pPr>
                      <a:r>
                        <a:t>0.9425</a:t>
                      </a:r>
                    </a:p>
                  </a:txBody>
                  <a:tcPr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0">
                          <a:solidFill>
                            <a:srgbClr val="202020"/>
                          </a:solidFill>
                          <a:latin typeface="Times New Roman"/>
                        </a:defRPr>
                      </a:pPr>
                      <a:r>
                        <a:t>0.9909</a:t>
                      </a:r>
                    </a:p>
                  </a:txBody>
                  <a:tcPr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0">
                          <a:solidFill>
                            <a:srgbClr val="202020"/>
                          </a:solidFill>
                          <a:latin typeface="Times New Roman"/>
                        </a:defRPr>
                      </a:pPr>
                      <a:r>
                        <a:t>0.9586</a:t>
                      </a:r>
                    </a:p>
                  </a:txBody>
                  <a:tcPr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0">
                          <a:solidFill>
                            <a:srgbClr val="202020"/>
                          </a:solidFill>
                          <a:latin typeface="Times New Roman"/>
                        </a:defRPr>
                      </a:pPr>
                      <a:r>
                        <a:t>41</a:t>
                      </a:r>
                    </a:p>
                  </a:txBody>
                  <a:tcPr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0">
                          <a:solidFill>
                            <a:srgbClr val="202020"/>
                          </a:solidFill>
                          <a:latin typeface="Times New Roman"/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0">
                          <a:solidFill>
                            <a:srgbClr val="202020"/>
                          </a:solidFill>
                          <a:latin typeface="Times New Roman"/>
                        </a:defRPr>
                      </a:pPr>
                      <a:r>
                        <a:t>4</a:t>
                      </a:r>
                    </a:p>
                  </a:txBody>
                  <a:tcPr>
                    <a:solidFill>
                      <a:srgbClr val="F4F7FA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algn="l">
                        <a:defRPr sz="950" b="1">
                          <a:solidFill>
                            <a:srgbClr val="059669"/>
                          </a:solidFill>
                          <a:latin typeface="Times New Roman"/>
                        </a:defRPr>
                      </a:pPr>
                      <a:r>
                        <a:t>Full Consensus Fusion</a:t>
                      </a:r>
                    </a:p>
                  </a:txBody>
                  <a:tcPr>
                    <a:solidFill>
                      <a:srgbClr val="E6F4E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202020"/>
                          </a:solidFill>
                          <a:latin typeface="Times New Roman"/>
                        </a:defRPr>
                      </a:pPr>
                      <a:r>
                        <a:t>99.70%</a:t>
                      </a:r>
                    </a:p>
                  </a:txBody>
                  <a:tcPr>
                    <a:solidFill>
                      <a:srgbClr val="E6F4E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202020"/>
                          </a:solidFill>
                          <a:latin typeface="Times New Roman"/>
                        </a:defRPr>
                      </a:pPr>
                      <a:r>
                        <a:t>0.9091</a:t>
                      </a:r>
                    </a:p>
                  </a:txBody>
                  <a:tcPr>
                    <a:solidFill>
                      <a:srgbClr val="E6F4E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202020"/>
                          </a:solidFill>
                          <a:latin typeface="Times New Roman"/>
                        </a:defRPr>
                      </a:pPr>
                      <a:r>
                        <a:t>0.8889</a:t>
                      </a:r>
                    </a:p>
                  </a:txBody>
                  <a:tcPr>
                    <a:solidFill>
                      <a:srgbClr val="E6F4E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202020"/>
                          </a:solidFill>
                          <a:latin typeface="Times New Roman"/>
                        </a:defRPr>
                      </a:pPr>
                      <a:r>
                        <a:t>0.8989</a:t>
                      </a:r>
                    </a:p>
                  </a:txBody>
                  <a:tcPr>
                    <a:solidFill>
                      <a:srgbClr val="E6F4E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202020"/>
                          </a:solidFill>
                          <a:latin typeface="Times New Roman"/>
                        </a:defRPr>
                      </a:pPr>
                      <a:r>
                        <a:t>0.9985</a:t>
                      </a:r>
                    </a:p>
                  </a:txBody>
                  <a:tcPr>
                    <a:solidFill>
                      <a:srgbClr val="E6F4E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202020"/>
                          </a:solidFill>
                          <a:latin typeface="Times New Roman"/>
                        </a:defRPr>
                      </a:pPr>
                      <a:r>
                        <a:t>0.9555</a:t>
                      </a:r>
                    </a:p>
                  </a:txBody>
                  <a:tcPr>
                    <a:solidFill>
                      <a:srgbClr val="E6F4E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202020"/>
                          </a:solidFill>
                          <a:latin typeface="Times New Roman"/>
                        </a:defRPr>
                      </a:pPr>
                      <a:r>
                        <a:t>40</a:t>
                      </a:r>
                    </a:p>
                  </a:txBody>
                  <a:tcPr>
                    <a:solidFill>
                      <a:srgbClr val="E6F4E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202020"/>
                          </a:solidFill>
                          <a:latin typeface="Times New Roman"/>
                        </a:defRPr>
                      </a:pPr>
                      <a:r>
                        <a:t>4</a:t>
                      </a:r>
                    </a:p>
                  </a:txBody>
                  <a:tcPr>
                    <a:solidFill>
                      <a:srgbClr val="E6F4E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202020"/>
                          </a:solidFill>
                          <a:latin typeface="Times New Roman"/>
                        </a:defRPr>
                      </a:pPr>
                      <a:r>
                        <a:t>5</a:t>
                      </a:r>
                    </a:p>
                  </a:txBody>
                  <a:tcPr>
                    <a:solidFill>
                      <a:srgbClr val="E6F4EA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731520" y="4023360"/>
            <a:ext cx="5120640" cy="2011680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CBD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4069080"/>
            <a:ext cx="48463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50" b="1">
                <a:solidFill>
                  <a:srgbClr val="1F4E79"/>
                </a:solidFill>
                <a:latin typeface="Times New Roman"/>
              </a:defRPr>
            </a:pPr>
            <a:r>
              <a:t>Cross-Generator Distribution Shift (1,000 txns)</a:t>
            </a:r>
          </a:p>
          <a:p>
            <a:pPr algn="l">
              <a:defRPr sz="1050" b="0">
                <a:solidFill>
                  <a:srgbClr val="202020"/>
                </a:solidFill>
                <a:latin typeface="Times New Roman"/>
              </a:defRPr>
            </a:pPr>
            <a:r>
              <a:t>• Tree Recall Collapse: Random Forest and XGBoost suffered total recall collapse (0/15 caught) due to orthogonal decision boundary shifts.</a:t>
            </a:r>
          </a:p>
          <a:p>
            <a:pPr algn="l">
              <a:defRPr sz="1050" b="0">
                <a:solidFill>
                  <a:srgbClr val="202020"/>
                </a:solidFill>
                <a:latin typeface="Times New Roman"/>
              </a:defRPr>
            </a:pPr>
            <a:r>
              <a:t>• Neural Representation Robustness: Deep Neural Network and Autoencoder detected all 15 frauds (100% recall), albeit with elevated false alarms.</a:t>
            </a:r>
          </a:p>
          <a:p>
            <a:pPr algn="l">
              <a:defRPr sz="1050" b="1">
                <a:solidFill>
                  <a:srgbClr val="059669"/>
                </a:solidFill>
                <a:latin typeface="Times New Roman"/>
              </a:defRPr>
            </a:pPr>
            <a:r>
              <a:t>• Key Finding: Offline synthetic benchmarks cannot replace live telemetry; automated models must remain advisory in human-in-the-loop review.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4023360"/>
            <a:ext cx="5120640" cy="2011680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CBD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5080" y="4069080"/>
            <a:ext cx="48463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50" b="1">
                <a:solidFill>
                  <a:srgbClr val="1F4E79"/>
                </a:solidFill>
                <a:latin typeface="Times New Roman"/>
              </a:defRPr>
            </a:pPr>
            <a:r>
              <a:t>Financial Cost-Benefit Loss Analysis</a:t>
            </a:r>
          </a:p>
          <a:p>
            <a:pPr algn="l">
              <a:defRPr sz="1050" b="0">
                <a:solidFill>
                  <a:srgbClr val="202020"/>
                </a:solidFill>
                <a:latin typeface="Times New Roman"/>
              </a:defRPr>
            </a:pPr>
            <a:r>
              <a:t>• Asymmetric Cost Formulation: Missed Fraud Cost (C_FN) = $2,500; False Alarm Cost (C_FP) = $35; Triage Overhead (C_TP) = $10.</a:t>
            </a:r>
          </a:p>
          <a:p>
            <a:pPr algn="l">
              <a:defRPr sz="1050" b="0">
                <a:solidFill>
                  <a:srgbClr val="202020"/>
                </a:solidFill>
                <a:latin typeface="Times New Roman"/>
              </a:defRPr>
            </a:pPr>
            <a:r>
              <a:t>• Baseline Loss (No Detection): $112,500 across 45 fraud incidents.</a:t>
            </a:r>
          </a:p>
          <a:p>
            <a:pPr algn="l">
              <a:defRPr sz="1050" b="0">
                <a:solidFill>
                  <a:srgbClr val="202020"/>
                </a:solidFill>
                <a:latin typeface="Times New Roman"/>
              </a:defRPr>
            </a:pPr>
            <a:r>
              <a:t>• Full Consensus Operational Loss: $13,040 ($12,500 FN + $140 FP + $400 TP).</a:t>
            </a:r>
          </a:p>
          <a:p>
            <a:pPr algn="l">
              <a:defRPr sz="1050" b="1">
                <a:solidFill>
                  <a:srgbClr val="059669"/>
                </a:solidFill>
                <a:latin typeface="Times New Roman"/>
              </a:defRPr>
            </a:pPr>
            <a:r>
              <a:t>• Net Operational Savings: +$99,460 (88.4% cost reduction over baseline).</a:t>
            </a:r>
          </a:p>
        </p:txBody>
      </p:sp>
    </p:spTree>
    <p:extLst>
      <p:ext uri="{BB962C8B-B14F-4D97-AF65-F5344CB8AC3E}">
        <p14:creationId xmlns:p14="http://schemas.microsoft.com/office/powerpoint/2010/main" val="366618880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BCC49A39-F362-DB35-B5DF-7E322AB9CA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2">
            <a:extLst>
              <a:ext uri="{FF2B5EF4-FFF2-40B4-BE49-F238E27FC236}">
                <a16:creationId xmlns:a16="http://schemas.microsoft.com/office/drawing/2014/main" xmlns="" id="{3754A46F-4AC3-5AF1-0B78-C0B5112BD14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60248" y="681037"/>
            <a:ext cx="10515600" cy="576696"/>
          </a:xfrm>
          <a:prstGeom prst="rect">
            <a:avLst/>
          </a:prstGeom>
        </p:spPr>
        <p:txBody>
          <a:bodyPr vert="horz" wrap="square" lIns="0" tIns="113919" rIns="0" bIns="0" rtlCol="0">
            <a:spAutoFit/>
          </a:bodyPr>
          <a:lstStyle/>
          <a:p>
            <a:pPr marL="486409">
              <a:lnSpc>
                <a:spcPct val="100000"/>
              </a:lnSpc>
              <a:spcBef>
                <a:spcPts val="130"/>
              </a:spcBef>
              <a:defRPr sz="2400" b="1">
                <a:solidFill>
                  <a:srgbClr val="1F4E79"/>
                </a:solidFill>
                <a:latin typeface="Times New Roman"/>
              </a:defRPr>
            </a:pPr>
            <a:r>
              <a:t>Conclusion &amp; Future Work</a:t>
            </a:r>
            <a:endParaRPr sz="3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xmlns="" id="{851BAA61-633E-E24B-7DEE-4B2A2B1FA9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 sz="1000">
                <a:solidFill>
                  <a:srgbClr val="555555"/>
                </a:solidFill>
                <a:latin typeface="Times New Roman"/>
              </a:defRPr>
            </a:pPr>
            <a:r>
              <a:t>28/10/26</a:t>
            </a:r>
            <a:endParaRPr lang="en-IN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xmlns="" id="{AB93C553-2D0C-5A0A-39DC-21C43BD88B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 sz="1000">
                <a:solidFill>
                  <a:srgbClr val="555555"/>
                </a:solidFill>
                <a:latin typeface="Times New Roman"/>
              </a:defRPr>
            </a:pPr>
            <a:r>
              <a:t>VIT SCOPE  |  BCSE497J Project-I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xmlns="" id="{6BF7A7E9-45BE-62F4-D3A6-F19DC6ABED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01FD4-9D8D-4491-815B-63C7BF4F0034}" type="slidenum">
              <a:rPr lang="en-IN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12</a:t>
            </a:fld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731520" y="1645920"/>
            <a:ext cx="5120640" cy="4389120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CBD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737360"/>
            <a:ext cx="48463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1F4E79"/>
                </a:solidFill>
                <a:latin typeface="Times New Roman"/>
              </a:defRPr>
            </a:pPr>
            <a:r>
              <a:t>Conclusions &amp; Core Achievements</a:t>
            </a:r>
          </a:p>
          <a:p>
            <a:pPr algn="l">
              <a:defRPr sz="1150" b="0">
                <a:solidFill>
                  <a:srgbClr val="202020"/>
                </a:solidFill>
                <a:latin typeface="Times New Roman"/>
              </a:defRPr>
            </a:pPr>
            <a:r>
              <a:t>• Multi-Model Consensus Architecture: Successfully unified supervised tree ensembles with deep neural representation learning, achieving 0.9091 precision, 0.8889 recall, and 0.9555 PR-AUC on holdout data.</a:t>
            </a:r>
          </a:p>
          <a:p>
            <a:pPr algn="l">
              <a:defRPr sz="1150" b="0">
                <a:solidFill>
                  <a:srgbClr val="202020"/>
                </a:solidFill>
                <a:latin typeface="Times New Roman"/>
              </a:defRPr>
            </a:pPr>
            <a:r>
              <a:t>• 55.6% False Positive Reduction: Reduced false alarms from 9 down to 4, substantially lightening human compliance review burdens while maintaining high fraud recall.</a:t>
            </a:r>
          </a:p>
          <a:p>
            <a:pPr algn="l">
              <a:defRPr sz="1150" b="0">
                <a:solidFill>
                  <a:srgbClr val="202020"/>
                </a:solidFill>
                <a:latin typeface="Times New Roman"/>
              </a:defRPr>
            </a:pPr>
            <a:r>
              <a:t>• Regulatory Explainability: Embedded TreeSHAP feature attributions and quantitative balance discrepancy forensics satisfying statutory GDPR Art. 22 compliance.</a:t>
            </a:r>
          </a:p>
          <a:p>
            <a:pPr algn="l">
              <a:defRPr sz="1150" b="0">
                <a:solidFill>
                  <a:srgbClr val="202020"/>
                </a:solidFill>
                <a:latin typeface="Times New Roman"/>
              </a:defRPr>
            </a:pPr>
            <a:r>
              <a:t>• Fault-Tolerant Streaming: Deployed transactional SQLite outbox (pending_alerts) and synchronous broker ACK guaranteeing at-least-once alert delivery on worker crash.</a:t>
            </a:r>
          </a:p>
          <a:p>
            <a:pPr algn="l">
              <a:defRPr sz="1150" b="1">
                <a:solidFill>
                  <a:srgbClr val="059669"/>
                </a:solidFill>
                <a:latin typeface="Times New Roman"/>
              </a:defRPr>
            </a:pPr>
            <a:r>
              <a:t>• 104 Passing Automated Tests: 100% verification across all unit, integration, and security regression checks.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645920"/>
            <a:ext cx="5120640" cy="4389120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CBD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55080" y="1737360"/>
            <a:ext cx="48463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1F4E79"/>
                </a:solidFill>
                <a:latin typeface="Times New Roman"/>
              </a:defRPr>
            </a:pPr>
            <a:r>
              <a:t>Limitations &amp; Future Roadmap</a:t>
            </a:r>
          </a:p>
          <a:p>
            <a:pPr algn="l">
              <a:defRPr sz="1300" b="1">
                <a:solidFill>
                  <a:srgbClr val="202020"/>
                </a:solidFill>
                <a:latin typeface="Times New Roman"/>
              </a:defRPr>
            </a:pPr>
            <a:r>
              <a:t>• Current Limitations:</a:t>
            </a:r>
          </a:p>
          <a:p>
            <a:pPr algn="l">
              <a:defRPr sz="1100" b="0">
                <a:solidFill>
                  <a:srgbClr val="202020"/>
                </a:solidFill>
                <a:latin typeface="Times New Roman"/>
              </a:defRPr>
            </a:pPr>
            <a:r>
              <a:t>  - Sensitivity of static tree decision thresholds to cross-generator distribution shift.</a:t>
            </a:r>
          </a:p>
          <a:p>
            <a:pPr algn="l">
              <a:defRPr sz="1100" b="0">
                <a:solidFill>
                  <a:srgbClr val="202020"/>
                </a:solidFill>
                <a:latin typeface="Times New Roman"/>
              </a:defRPr>
            </a:pPr>
            <a:r>
              <a:t>  - Post-transaction retrospective scope: ledger balance features depend on completed transactions; pre-authorization workflows require real-time velocity features.</a:t>
            </a:r>
          </a:p>
          <a:p>
            <a:pPr algn="l">
              <a:defRPr sz="600" b="0">
                <a:solidFill>
                  <a:srgbClr val="202020"/>
                </a:solidFill>
                <a:latin typeface="Times New Roman"/>
              </a:defRPr>
            </a:pPr>
          </a:p>
          <a:p>
            <a:pPr algn="l">
              <a:defRPr sz="1300" b="1">
                <a:solidFill>
                  <a:srgbClr val="202020"/>
                </a:solidFill>
                <a:latin typeface="Times New Roman"/>
              </a:defRPr>
            </a:pPr>
            <a:r>
              <a:t>• Future Research Roadmap:</a:t>
            </a:r>
          </a:p>
          <a:p>
            <a:pPr algn="l">
              <a:defRPr sz="1100" b="0">
                <a:solidFill>
                  <a:srgbClr val="202020"/>
                </a:solidFill>
                <a:latin typeface="Times New Roman"/>
              </a:defRPr>
            </a:pPr>
            <a:r>
              <a:t>  - Graph Neural Networks (GNNs): Incorporate Relational Graph Convolutional Networks (R-GCNs) to detect money mule rings, collusion graphs, and synthetic identity networks.</a:t>
            </a:r>
          </a:p>
          <a:p>
            <a:pPr algn="l">
              <a:defRPr sz="1100" b="0">
                <a:solidFill>
                  <a:srgbClr val="202020"/>
                </a:solidFill>
                <a:latin typeface="Times New Roman"/>
              </a:defRPr>
            </a:pPr>
            <a:r>
              <a:t>  - Adaptive Continual Retraining: Integrate online concept drift detectors (ADWIN, DDM) to trigger automated pipeline recalibration.</a:t>
            </a:r>
          </a:p>
          <a:p>
            <a:pPr algn="l">
              <a:defRPr sz="1100" b="0">
                <a:solidFill>
                  <a:srgbClr val="202020"/>
                </a:solidFill>
                <a:latin typeface="Times New Roman"/>
              </a:defRPr>
            </a:pPr>
            <a:r>
              <a:t>  - Hardware Acceleration: Quantize deep models using ONNX Runtime and TensorRT to achieve sub-5 ms edge inference.</a:t>
            </a:r>
          </a:p>
        </p:txBody>
      </p:sp>
    </p:spTree>
    <p:extLst>
      <p:ext uri="{BB962C8B-B14F-4D97-AF65-F5344CB8AC3E}">
        <p14:creationId xmlns:p14="http://schemas.microsoft.com/office/powerpoint/2010/main" val="131749873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751EE89F-6F96-DF9C-768A-8B2A7BEAD2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400" b="1">
                <a:solidFill>
                  <a:srgbClr val="1F4E79"/>
                </a:solidFill>
                <a:latin typeface="Times New Roman"/>
              </a:defRPr>
            </a:pPr>
            <a:r>
              <a:t>Outcomes Achieved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xmlns="" id="{7F86E621-0A63-DDD2-60A0-511D9D7C81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 sz="1000">
                <a:solidFill>
                  <a:srgbClr val="555555"/>
                </a:solidFill>
                <a:latin typeface="Times New Roman"/>
              </a:defRPr>
            </a:pPr>
            <a:r>
              <a:t>28/10/26</a:t>
            </a:r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xmlns="" id="{74966F66-9685-CC43-3B74-035A03CAF3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 sz="1000">
                <a:solidFill>
                  <a:srgbClr val="555555"/>
                </a:solidFill>
                <a:latin typeface="Times New Roman"/>
              </a:defRPr>
            </a:pPr>
            <a:r>
              <a:t>VIT SCOPE  |  BCSE497J Project-I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xmlns="" id="{32234F7B-54B7-5C34-9356-A94BE39E21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01FD4-9D8D-4491-815B-63C7BF4F0034}" type="slidenum">
              <a:rPr lang="en-IN" smtClean="0"/>
              <a:t>13</a:t>
            </a:fld>
            <a:endParaRPr lang="en-IN"/>
          </a:p>
        </p:txBody>
      </p:sp>
      <p:sp>
        <p:nvSpPr>
          <p:cNvPr id="7" name="Rounded Rectangle 6"/>
          <p:cNvSpPr/>
          <p:nvPr/>
        </p:nvSpPr>
        <p:spPr>
          <a:xfrm>
            <a:off x="731520" y="1645920"/>
            <a:ext cx="10698480" cy="4389120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CBD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737360"/>
            <a:ext cx="103327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F4E79"/>
                </a:solidFill>
                <a:latin typeface="Times New Roman"/>
              </a:defRPr>
            </a:pPr>
            <a:r>
              <a:t>Tangible Project Outcomes &amp; Verified Deliverables</a:t>
            </a:r>
          </a:p>
          <a:p>
            <a:pPr algn="l">
              <a:defRPr sz="600" b="0">
                <a:solidFill>
                  <a:srgbClr val="202020"/>
                </a:solidFill>
                <a:latin typeface="Times New Roman"/>
              </a:defRPr>
            </a:pPr>
          </a:p>
          <a:p>
            <a:pPr algn="l">
              <a:defRPr sz="1400" b="1">
                <a:solidFill>
                  <a:srgbClr val="059669"/>
                </a:solidFill>
                <a:latin typeface="Times New Roman"/>
              </a:defRPr>
            </a:pPr>
            <a:r>
              <a:t>1. Enterprise-Hardened Software Product &amp; Cloud Microservice:</a:t>
            </a:r>
          </a:p>
          <a:p>
            <a:pPr algn="l">
              <a:defRPr sz="1200" b="0">
                <a:solidFill>
                  <a:srgbClr val="202020"/>
                </a:solidFill>
                <a:latin typeface="Times New Roman"/>
              </a:defRPr>
            </a:pPr>
            <a:r>
              <a:t>• Containerized FastAPI microservice with interactive multi-tenant Streamlit analyst workspace and Apache Kafka streaming engine.</a:t>
            </a:r>
          </a:p>
          <a:p>
            <a:pPr algn="l">
              <a:defRPr sz="1200" b="0">
                <a:solidFill>
                  <a:srgbClr val="202020"/>
                </a:solidFill>
                <a:latin typeface="Times New Roman"/>
              </a:defRPr>
            </a:pPr>
            <a:r>
              <a:t>• Multi-container Docker Compose architecture (api, kafka, zookeeper, redis, prometheus) with strict deployment secret enforcement.</a:t>
            </a:r>
          </a:p>
          <a:p>
            <a:pPr algn="l">
              <a:defRPr sz="1200" b="0">
                <a:solidFill>
                  <a:srgbClr val="202020"/>
                </a:solidFill>
                <a:latin typeface="Times New Roman"/>
              </a:defRPr>
            </a:pPr>
            <a:r>
              <a:t>• Verified against an exhaustive 104-test automated unit, integration, and security regression suite (100% PASS rate).</a:t>
            </a:r>
          </a:p>
          <a:p>
            <a:pPr algn="l">
              <a:defRPr sz="800" b="0">
                <a:solidFill>
                  <a:srgbClr val="202020"/>
                </a:solidFill>
                <a:latin typeface="Times New Roman"/>
              </a:defRPr>
            </a:pPr>
          </a:p>
          <a:p>
            <a:pPr algn="l">
              <a:defRPr sz="1400" b="1">
                <a:solidFill>
                  <a:srgbClr val="059669"/>
                </a:solidFill>
                <a:latin typeface="Times New Roman"/>
              </a:defRPr>
            </a:pPr>
            <a:r>
              <a:t>2. Open-Source Codebase &amp; Reproducible Artifacts:</a:t>
            </a:r>
          </a:p>
          <a:p>
            <a:pPr algn="l">
              <a:defRPr sz="1200" b="0">
                <a:solidFill>
                  <a:srgbClr val="202020"/>
                </a:solidFill>
                <a:latin typeface="Times New Roman"/>
              </a:defRPr>
            </a:pPr>
            <a:r>
              <a:t>• Public GitHub Repository: https://github.com/animeshlabh57-rgb/AI-Based-Financial-Fraud-Detection-System</a:t>
            </a:r>
          </a:p>
          <a:p>
            <a:pPr algn="l">
              <a:defRPr sz="1200" b="0">
                <a:solidFill>
                  <a:srgbClr val="202020"/>
                </a:solidFill>
                <a:latin typeface="Times New Roman"/>
              </a:defRPr>
            </a:pPr>
            <a:r>
              <a:t>• Full modular Python source code, trained model weights, evaluation benchmark scripts, and Docker orchestrations.</a:t>
            </a:r>
          </a:p>
          <a:p>
            <a:pPr algn="l">
              <a:defRPr sz="800" b="0">
                <a:solidFill>
                  <a:srgbClr val="202020"/>
                </a:solidFill>
                <a:latin typeface="Times New Roman"/>
              </a:defRPr>
            </a:pPr>
          </a:p>
          <a:p>
            <a:pPr algn="l">
              <a:defRPr sz="1400" b="1">
                <a:solidFill>
                  <a:srgbClr val="059669"/>
                </a:solidFill>
                <a:latin typeface="Times New Roman"/>
              </a:defRPr>
            </a:pPr>
            <a:r>
              <a:t>3. Academic Research Deliverables &amp; Technical Documentation:</a:t>
            </a:r>
          </a:p>
          <a:p>
            <a:pPr algn="l">
              <a:defRPr sz="1200" b="0">
                <a:solidFill>
                  <a:srgbClr val="202020"/>
                </a:solidFill>
                <a:latin typeface="Times New Roman"/>
              </a:defRPr>
            </a:pPr>
            <a:r>
              <a:t>• Comprehensive 41-page B.Tech Project-I Academic Project Report (BCSE497J) prepared according to VIT IEEE formatting standards.</a:t>
            </a:r>
          </a:p>
          <a:p>
            <a:pPr algn="l">
              <a:defRPr sz="1200" b="0">
                <a:solidFill>
                  <a:srgbClr val="202020"/>
                </a:solidFill>
                <a:latin typeface="Times New Roman"/>
              </a:defRPr>
            </a:pPr>
            <a:r>
              <a:t>• Target: Submission to a Scopus-indexed conference / journal in Financial Machine Learning &amp; Security.</a:t>
            </a:r>
          </a:p>
        </p:txBody>
      </p:sp>
    </p:spTree>
    <p:extLst>
      <p:ext uri="{BB962C8B-B14F-4D97-AF65-F5344CB8AC3E}">
        <p14:creationId xmlns:p14="http://schemas.microsoft.com/office/powerpoint/2010/main" val="407157071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2F70E1A0-FA4A-8258-6E10-9F00EDC0BC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2">
            <a:extLst>
              <a:ext uri="{FF2B5EF4-FFF2-40B4-BE49-F238E27FC236}">
                <a16:creationId xmlns:a16="http://schemas.microsoft.com/office/drawing/2014/main" xmlns="" id="{7CFC0C65-61CC-E657-43F7-99C8E536244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60248" y="681037"/>
            <a:ext cx="10515600" cy="576696"/>
          </a:xfrm>
          <a:prstGeom prst="rect">
            <a:avLst/>
          </a:prstGeom>
        </p:spPr>
        <p:txBody>
          <a:bodyPr vert="horz" wrap="square" lIns="0" tIns="113919" rIns="0" bIns="0" rtlCol="0">
            <a:spAutoFit/>
          </a:bodyPr>
          <a:lstStyle/>
          <a:p>
            <a:pPr marL="486409">
              <a:lnSpc>
                <a:spcPct val="100000"/>
              </a:lnSpc>
              <a:spcBef>
                <a:spcPts val="130"/>
              </a:spcBef>
              <a:defRPr sz="2400" b="1">
                <a:solidFill>
                  <a:srgbClr val="1F4E79"/>
                </a:solidFill>
                <a:latin typeface="Times New Roman"/>
              </a:defRPr>
            </a:pPr>
            <a:r>
              <a:t>References</a:t>
            </a:r>
            <a:endParaRPr sz="3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xmlns="" id="{B732D3DB-7149-E1E5-D5F9-4FC93A7888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 sz="1000">
                <a:solidFill>
                  <a:srgbClr val="555555"/>
                </a:solidFill>
                <a:latin typeface="Times New Roman"/>
              </a:defRPr>
            </a:pPr>
            <a:r>
              <a:t>28/10/26</a:t>
            </a:r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xmlns="" id="{CEBCABB1-7C63-52E3-2815-3651AE7E9F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 sz="1000">
                <a:solidFill>
                  <a:srgbClr val="555555"/>
                </a:solidFill>
                <a:latin typeface="Times New Roman"/>
              </a:defRPr>
            </a:pPr>
            <a:r>
              <a:t>VIT SCOPE  |  BCSE497J Project-I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xmlns="" id="{E431EAEC-BCE3-2979-69C6-273309B9FF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01FD4-9D8D-4491-815B-63C7BF4F0034}" type="slidenum">
              <a:rPr lang="en-IN" smtClean="0"/>
              <a:t>14</a:t>
            </a:fld>
            <a:endParaRPr lang="en-IN"/>
          </a:p>
        </p:txBody>
      </p:sp>
      <p:sp>
        <p:nvSpPr>
          <p:cNvPr id="8" name="Rounded Rectangle 7"/>
          <p:cNvSpPr/>
          <p:nvPr/>
        </p:nvSpPr>
        <p:spPr>
          <a:xfrm>
            <a:off x="731520" y="1645920"/>
            <a:ext cx="10698480" cy="4389120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CBD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737360"/>
            <a:ext cx="103327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0">
                <a:solidFill>
                  <a:srgbClr val="202020"/>
                </a:solidFill>
                <a:latin typeface="Times New Roman"/>
              </a:defRPr>
            </a:pPr>
            <a:r>
              <a:t>[1] A. Dal Pozzolo, G. Boracchi, O. Caelen, et al., 'Credit card fraud detection: A realistic modeling and a novel learning strategy,' IEEE Trans. Neural Netw. Learn. Syst., vol. 29, no. 8, pp. 3784–3797, Aug. 2018.</a:t>
            </a:r>
          </a:p>
          <a:p>
            <a:pPr algn="l">
              <a:defRPr sz="300" b="0">
                <a:solidFill>
                  <a:srgbClr val="202020"/>
                </a:solidFill>
                <a:latin typeface="Times New Roman"/>
              </a:defRPr>
            </a:pPr>
          </a:p>
          <a:p>
            <a:pPr algn="l">
              <a:defRPr sz="1050" b="0">
                <a:solidFill>
                  <a:srgbClr val="202020"/>
                </a:solidFill>
                <a:latin typeface="Times New Roman"/>
              </a:defRPr>
            </a:pPr>
            <a:r>
              <a:t>[2] A. Dal Pozzolo, O. Caelen, R. A. Johnson, and G. Bontempi, 'Calibrating probability with undersampling for unbalanced classification,' in Proc. IEEE SSCI, 2015, pp. 159–166.</a:t>
            </a:r>
          </a:p>
          <a:p>
            <a:pPr algn="l">
              <a:defRPr sz="300" b="0">
                <a:solidFill>
                  <a:srgbClr val="202020"/>
                </a:solidFill>
                <a:latin typeface="Times New Roman"/>
              </a:defRPr>
            </a:pPr>
          </a:p>
          <a:p>
            <a:pPr algn="l">
              <a:defRPr sz="1050" b="0">
                <a:solidFill>
                  <a:srgbClr val="202020"/>
                </a:solidFill>
                <a:latin typeface="Times New Roman"/>
              </a:defRPr>
            </a:pPr>
            <a:r>
              <a:t>[3] N. V. Chawla, K. W. Bowyer, L. O. Hall, and W. P. Kegelmeyer, 'SMOTE: Synthetic minority over-sampling technique,' J. Artif. Intell. Res., vol. 16, pp. 321–357, 2002.</a:t>
            </a:r>
          </a:p>
          <a:p>
            <a:pPr algn="l">
              <a:defRPr sz="300" b="0">
                <a:solidFill>
                  <a:srgbClr val="202020"/>
                </a:solidFill>
                <a:latin typeface="Times New Roman"/>
              </a:defRPr>
            </a:pPr>
          </a:p>
          <a:p>
            <a:pPr algn="l">
              <a:defRPr sz="1050" b="0">
                <a:solidFill>
                  <a:srgbClr val="202020"/>
                </a:solidFill>
                <a:latin typeface="Times New Roman"/>
              </a:defRPr>
            </a:pPr>
            <a:r>
              <a:t>[4] A. Pumsirirat and L. Yan, 'Credit card fraud detection using deep learning based on auto-encoder and restricted Boltzmann machine,' Int. J. Adv. Comput. Sci. Appl., vol. 9, no. 1, pp. 18–25, 2018.</a:t>
            </a:r>
          </a:p>
          <a:p>
            <a:pPr algn="l">
              <a:defRPr sz="300" b="0">
                <a:solidFill>
                  <a:srgbClr val="202020"/>
                </a:solidFill>
                <a:latin typeface="Times New Roman"/>
              </a:defRPr>
            </a:pPr>
          </a:p>
          <a:p>
            <a:pPr algn="l">
              <a:defRPr sz="1050" b="0">
                <a:solidFill>
                  <a:srgbClr val="202020"/>
                </a:solidFill>
                <a:latin typeface="Times New Roman"/>
              </a:defRPr>
            </a:pPr>
            <a:r>
              <a:t>[5] L. Breiman, 'Random forests,' Mach. Learn., vol. 45, no. 1, pp. 5–32, 2001.</a:t>
            </a:r>
          </a:p>
          <a:p>
            <a:pPr algn="l">
              <a:defRPr sz="300" b="0">
                <a:solidFill>
                  <a:srgbClr val="202020"/>
                </a:solidFill>
                <a:latin typeface="Times New Roman"/>
              </a:defRPr>
            </a:pPr>
          </a:p>
          <a:p>
            <a:pPr algn="l">
              <a:defRPr sz="1050" b="0">
                <a:solidFill>
                  <a:srgbClr val="202020"/>
                </a:solidFill>
                <a:latin typeface="Times New Roman"/>
              </a:defRPr>
            </a:pPr>
            <a:r>
              <a:t>[6] T. Chen and C. Guestrin, 'XGBoost: A scalable tree boosting system,' in Proc. 22nd ACM SIGKDD, 2016, pp. 785–794.</a:t>
            </a:r>
          </a:p>
          <a:p>
            <a:pPr algn="l">
              <a:defRPr sz="300" b="0">
                <a:solidFill>
                  <a:srgbClr val="202020"/>
                </a:solidFill>
                <a:latin typeface="Times New Roman"/>
              </a:defRPr>
            </a:pPr>
          </a:p>
          <a:p>
            <a:pPr algn="l">
              <a:defRPr sz="1050" b="0">
                <a:solidFill>
                  <a:srgbClr val="202020"/>
                </a:solidFill>
                <a:latin typeface="Times New Roman"/>
              </a:defRPr>
            </a:pPr>
            <a:r>
              <a:t>[7] S. M. Lundberg et al., 'From local explanations to global understanding with explainable AI for trees,' Nature Mach. Intell., vol. 2, no. 1, pp. 56–67, 2020.</a:t>
            </a:r>
          </a:p>
          <a:p>
            <a:pPr algn="l">
              <a:defRPr sz="300" b="0">
                <a:solidFill>
                  <a:srgbClr val="202020"/>
                </a:solidFill>
                <a:latin typeface="Times New Roman"/>
              </a:defRPr>
            </a:pPr>
          </a:p>
          <a:p>
            <a:pPr algn="l">
              <a:defRPr sz="1050" b="0">
                <a:solidFill>
                  <a:srgbClr val="202020"/>
                </a:solidFill>
                <a:latin typeface="Times New Roman"/>
              </a:defRPr>
            </a:pPr>
            <a:r>
              <a:t>[8] T. Saito and M. Rehmsmeier, 'The precision-recall plot is more informative than the ROC plot when evaluating binary classifiers on imbalanced datasets,' PLOS ONE, vol. 10, no. 3, e0118432, 2015.</a:t>
            </a:r>
          </a:p>
          <a:p>
            <a:pPr algn="l">
              <a:defRPr sz="300" b="0">
                <a:solidFill>
                  <a:srgbClr val="202020"/>
                </a:solidFill>
                <a:latin typeface="Times New Roman"/>
              </a:defRPr>
            </a:pPr>
          </a:p>
        </p:txBody>
      </p:sp>
    </p:spTree>
    <p:extLst>
      <p:ext uri="{BB962C8B-B14F-4D97-AF65-F5344CB8AC3E}">
        <p14:creationId xmlns:p14="http://schemas.microsoft.com/office/powerpoint/2010/main" val="351052624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xmlns="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xmlns="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100</TotalTime>
  <Words>376</Words>
  <Application>Microsoft Macintosh PowerPoint</Application>
  <PresentationFormat>Custom</PresentationFormat>
  <Paragraphs>98</Paragraphs>
  <Slides>14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5" baseType="lpstr">
      <vt:lpstr>Office Theme</vt:lpstr>
      <vt:lpstr>&lt;&lt;Programme B.Tech/ M.Tech Course Code – Course Title&gt;&gt; &lt;&lt;Project Title&gt;&gt;</vt:lpstr>
      <vt:lpstr>Approval Mail From Guide</vt:lpstr>
      <vt:lpstr>Aim</vt:lpstr>
      <vt:lpstr>Abstract</vt:lpstr>
      <vt:lpstr>Literature Review</vt:lpstr>
      <vt:lpstr>Research Gap</vt:lpstr>
      <vt:lpstr>Objectives</vt:lpstr>
      <vt:lpstr>Framework/Architecture/Block Diagram</vt:lpstr>
      <vt:lpstr>Functional Requirements</vt:lpstr>
      <vt:lpstr>Modules</vt:lpstr>
      <vt:lpstr>Experiments and Results</vt:lpstr>
      <vt:lpstr>Conclusion and Future Work</vt:lpstr>
      <vt:lpstr>Outcome Achieved</vt:lpstr>
      <vt:lpstr>References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&lt;&lt;Programme B.Tech/ M.Tech Course Code – Course Title&gt;&gt; &lt;&lt;Project Title&gt;&gt;</dc:title>
  <dc:creator>Parthasarathy G</dc:creator>
  <cp:lastModifiedBy>Prakash Mohan</cp:lastModifiedBy>
  <cp:revision>12</cp:revision>
  <dcterms:created xsi:type="dcterms:W3CDTF">2026-07-14T06:00:41Z</dcterms:created>
  <dcterms:modified xsi:type="dcterms:W3CDTF">2026-10-05T06:25:49Z</dcterms:modified>
</cp:coreProperties>
</file>