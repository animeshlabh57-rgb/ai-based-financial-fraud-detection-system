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62" r:id="rId15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50" b="1">
                <a:solidFill>
                  <a:srgbClr val="1F4E79"/>
                </a:solidFill>
                <a:latin typeface="Times New Roman"/>
              </a:defRPr>
            </a:pPr>
            <a:r>
              <a:t>B.Tech Computer Science and Engineering  |  BCSE497J – Project-I (Review 3)</a:t>
            </a:r>
          </a:p>
          <a:p>
            <a:pPr algn="ctr">
              <a:defRPr sz="2100" b="1">
                <a:solidFill>
                  <a:srgbClr val="202020"/>
                </a:solidFill>
                <a:latin typeface="Times New Roman"/>
              </a:defRPr>
            </a:pPr>
            <a:r>
              <a:t>FraudGuard AI: An Explainable Financial Fraud Detection System Using Machine Learning and Deep Learning</a:t>
            </a:r>
          </a:p>
          <a:p>
            <a:pPr algn="ctr">
              <a:defRPr sz="1300" i="1">
                <a:solidFill>
                  <a:srgbClr val="2E75B6"/>
                </a:solidFill>
                <a:latin typeface="Times New Roman"/>
              </a:defRPr>
            </a:pPr>
            <a:r>
              <a:t>With Secure RESTful API and Real-Time Kafka Streaming Ingestion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Project Team Members (SCOPE):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defRPr sz="1350" b="0">
                <a:solidFill>
                  <a:srgbClr val="202020"/>
                </a:solidFill>
                <a:latin typeface="Times New Roman"/>
              </a:defRPr>
            </a:pPr>
            <a:r>
              <a:t>23BCE0374  Dhruv Singh    |    23BCE0415  Animesh B. Labh    |    23BDS0091  Kushagra Dhelia</a:t>
            </a:r>
          </a:p>
          <a:p>
            <a:pPr algn="l">
              <a:defRPr sz="800" b="0">
                <a:solidFill>
                  <a:srgbClr val="202020"/>
                </a:solidFill>
                <a:latin typeface="Times New Roman"/>
              </a:defRPr>
            </a:pPr>
          </a:p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Project Supervisor / Faculty Guide:</a:t>
            </a:r>
          </a:p>
          <a:p>
            <a:pPr algn="ctr">
              <a:defRPr sz="1400" b="1">
                <a:solidFill>
                  <a:srgbClr val="202020"/>
                </a:solidFill>
                <a:latin typeface="Times New Roman"/>
              </a:defRPr>
            </a:pPr>
            <a:r>
              <a:t>Dr. Erapaneni Gayatri, Assistant Professor Sr. Grade 1</a:t>
            </a:r>
          </a:p>
          <a:p>
            <a:pPr algn="ctr">
              <a:defRPr sz="1300" b="0">
                <a:solidFill>
                  <a:srgbClr val="555555"/>
                </a:solidFill>
                <a:latin typeface="Times New Roman"/>
              </a:defRPr>
            </a:pPr>
            <a:r>
              <a:t>School of Computer Science and Engineering (SCOPE), VIT Vellore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Approval Mail From Guide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0" y="1645920"/>
            <a:ext cx="612648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Times New Roman"/>
              </a:defRPr>
            </a:pPr>
            <a:r>
              <a:t>Faculty Supervisor Verification</a:t>
            </a:r>
          </a:p>
          <a:p>
            <a:pPr algn="l">
              <a:defRPr sz="1300" b="1">
                <a:solidFill>
                  <a:srgbClr val="202020"/>
                </a:solidFill>
                <a:latin typeface="Times New Roman"/>
              </a:defRPr>
            </a:pPr>
            <a:r>
              <a:t>Project Guide:</a:t>
            </a:r>
          </a:p>
          <a:p>
            <a:pPr algn="l"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t>Dr. Erapaneni Gayatri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Assistant Professor Sr. Grade 1</a:t>
            </a:r>
          </a:p>
          <a:p>
            <a:pPr algn="l">
              <a:defRPr sz="1150" b="0">
                <a:solidFill>
                  <a:srgbClr val="555555"/>
                </a:solidFill>
                <a:latin typeface="Times New Roman"/>
              </a:defRPr>
            </a:pPr>
            <a:r>
              <a:t>School of Computer Science and Engineering (SCOPE)</a:t>
            </a:r>
          </a:p>
          <a:p>
            <a:pPr algn="l">
              <a:defRPr sz="1150" b="0">
                <a:solidFill>
                  <a:srgbClr val="555555"/>
                </a:solidFill>
                <a:latin typeface="Times New Roman"/>
              </a:defRPr>
            </a:pPr>
            <a:r>
              <a:t>Vellore Institute of Technology, Vellore</a:t>
            </a:r>
          </a:p>
          <a:p>
            <a:pPr algn="l">
              <a:defRPr sz="10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300" b="1">
                <a:solidFill>
                  <a:srgbClr val="1F4E79"/>
                </a:solidFill>
                <a:latin typeface="Times New Roman"/>
              </a:defRPr>
            </a:pPr>
            <a:r>
              <a:t>Review 3 Scope &amp; Approval Confirmation: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The official supervisor approval email for BCSE497J Project-I Review 3 is attached on the right.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Verified academic deliverables include the Review 3 presentation deck, comprehensive 41-page project report, and working prototype codebase.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Detailed project outcomes and automated test verification are documented on Slide 13.</a:t>
            </a:r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Aim of the Project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1. Multi-Model Comparative Benchmarking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Formulate, train, and empirically benchmark four diverse fraud detection architectures: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  • Supervised tree ensembles: Random Forest and XGBoost.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  • Deep neural representations: Deep Neural Network (MLP) and Deep Bottleneck Autoencoder.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Compare individual discrimination performance across Precision, Recall, F1-Score, PR-AUC, and ROC-AUC on identical holdout partitions.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2. Leakage-Free Imbalance Handling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Address extreme class imbalance on the benchmark dataset:</a:t>
            </a:r>
          </a:p>
          <a:p>
            <a:pPr algn="l">
              <a:defRPr sz="1200" b="1">
                <a:solidFill>
                  <a:srgbClr val="059669"/>
                </a:solidFill>
                <a:latin typeface="Times New Roman"/>
              </a:defRPr>
            </a:pPr>
            <a:r>
              <a:t>  • Actual Benchmark Prevalence: 225/15,000 = 1.5% fraud rate across 15,000 synthetic records.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Prevent methodological data leakage by restricting SMOTE-NC oversampling and RobustScaler interquartile scaling strictly to training partitions, ensuring validation and testing holdouts remain uncorrupted.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3. Explainable Predictions &amp; Analyst Review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Embed explainable AI capabilities to assist human fraud analysts during investigation: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  • Local TreeSHAP waterfall feature attributions identifying exact risk drivers.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  • Quantitative balance discrepancy forensics (deltaOrig, deltaDest).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Support human-in-the-loop review through an interactive dashboard with multi-model comparison and persistent audit history.</a:t>
            </a: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Problem Context, Dataset &amp; Methodology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Industrial Challenge: Digital payment expansion requires resilient fraud detection. Traditional rule engines suffer from rigidity and false alarm fatigue, while black-box models lack interpretability for human analysts.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Benchmark Dataset: Evaluated on 15,000 locally generated synthetic transactions containing 225 fraud cases (1.50% fraud prevalence) across 9 mobile transaction fields.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Leakage-Free Preprocessing: Stratified 60/20/20 train/validation/test split. Quantile RobustScaler fitting and SMOTE-NC minority synthesis are restricted strictly to training partitions; domain balance forensics (deltaOrig, deltaDest, R_deplete) are computed per transaction.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Multi-Model Architecture: Benchmarks 4 diverse paradigms: Random Forest, XGBoost, Deep Neural Network (MLP), and Deep Bottleneck Autoencoder.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Implemented Prototype, Workflow &amp; Experiments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Implemented Academic Prototype: Containerized FastAPI REST service, interactive Streamlit workspace, and event-driven Apache Kafka streaming consumer with transactional SQLite outbox recovery.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Primary Holdout Evaluation (3,000 txns, 45 frauds): Individual models achieve strong holdout discrimination: Random Forest (Recall: 0.9333, TP: 42), DNN (Precision: 1.0000, FP: 0), Autoencoder (F1: 0.9425, FP: 1), and XGBoost baseline (F1: 0.8889).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Dashboard Workflow: Evaluates transactions against individual thresholds; an any-model review rule flags transactions if any detector triggers, supported by TreeSHAP local attributions and SQLite audit persistence.</a:t>
            </a:r>
          </a:p>
          <a:p>
            <a:pPr algn="l">
              <a:defRPr sz="1150" b="1">
                <a:solidFill>
                  <a:srgbClr val="059669"/>
                </a:solidFill>
                <a:latin typeface="Times New Roman"/>
              </a:defRPr>
            </a:pPr>
            <a:r>
              <a:t>• Offline Weighted-Fusion Experiment: In a separate offline experiment, a validation-tuned weighted ensemble reduced false positives from 9 to 4 compared with Random Forest, while true positives moved from 42 to 40.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554480"/>
                <a:gridCol w="1645920"/>
                <a:gridCol w="25603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Authors &amp; 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 Architectures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Imbalance 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Limitations / Research Gaps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Dal Pozzolo et al. (2018)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Random Forest, LogReg,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Undersampling +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Batch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No neural representation learning; lacks feature-level local explainability.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Pumsirirat &amp; Yan (2018) [4]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Autoencoder, RBM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Normal-only Unsupervised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Offline Prototype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Focuses on uncalibrated reconstruction distance; lacks comparative supervised baseline.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Shanaa &amp; Abdallah (2025) [14]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Supervised Tree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Resampling Techniques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Feature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Experimental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Evaluated on static datasets; lacks real-time ingestion and end-to-end web deployment.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Iqbal et al. (2025) [15]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Random Forest, XGBoost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Standard SMOTE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SHAP and LIME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Jupyter Notebook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Supervised-only; lacks unsupervised anomaly detection and fault-tolerant streaming architecture.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FraudGuard AI (This Work)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RF, XGBoost, DNN, Autoencoder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SMOTE-NC (Train Only)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TreeSHAP + Forensics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Implemented Prototype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Four-model comparison, threshold calibration, Kafka streaming with outbox recovery, 104 passing tests.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Times New Roman"/>
              </a:defRPr>
            </a:pPr>
            <a:r>
              <a:t>Gap 1: Anomaly Score Normalization and Threshold Selection in Autoencoders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Existing Limitation: Prior hybrid detection frameworks frequently use raw, unstandardized reconstruction errors (MSE) directly alongside classifier probabilities using ad-hoc heuristics without systematic validation.</a:t>
            </a:r>
          </a:p>
          <a:p>
            <a:pPr algn="l"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• FraudGuard AI Solution: Normalizes reconstruction error into an anomaly score and selects its threshold on validation data (tau*) to maximize F1, establishing a disciplined operational boundary before multi-model comparison.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325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Times New Roman"/>
              </a:defRPr>
            </a:pPr>
            <a:r>
              <a:t>Gap 2: Methodological Data Leakage in Preprocessing Pipelines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Existing Limitation: Preprocessing transformations (scaling, imputation, oversampling) are frequently fit across entire datasets prior to train/test partitioning, leading to overly optimistic benchmark metrics.</a:t>
            </a:r>
          </a:p>
          <a:p>
            <a:pPr algn="l"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• FraudGuard AI Solution: Enforces strict parameter freezing on the 60% training partition only; the 20% validation and 20% test partitions remain untouched to reflect true unseen distributions.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325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Times New Roman"/>
              </a:defRPr>
            </a:pPr>
            <a:r>
              <a:t>Gap 3: Absence of Streaming Fault Tolerance in Academic Prototypes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Existing Limitation: Academic fraud detection prototypes typically operate as offline scripts without crash resilience, risking dropped transactions during stream interruptions.</a:t>
            </a:r>
          </a:p>
          <a:p>
            <a:pPr algn="l"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• FraudGuard AI Solution: Implements an Apache Kafka consumer with transactional SQLite outbox persistence (pending_alerts), manual offset commits, and synchronous broker acknowledgements to enable retry and replay upon worker crashes.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Project Objectives &amp; Sustainable Development Goals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480560"/>
            <a:ext cx="1371600" cy="1280160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4480560"/>
            <a:ext cx="1371600" cy="1280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Measurable Technical Objectives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1. Implement a leakage-free feature engineering pipeline, generating domain balance forensics (deltaOrig, deltaDest) and restricting SMOTE-NC strictly to training partitions.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2. Train, optimize, and benchmark four diverse model architectures: Random Forest, XGBoost, Deep Neural Network (MLP), and Deep Bottleneck Autoencoder.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3. Implement an interactive analyst dashboard supporting batch CSV ingestion, four-model comparison, and an any-model review rule with four operational risk tiers (LOW, MEDIUM, HIGH, CRITICAL).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4. Integrate explainable AI capabilities, embedding local TreeSHAP attributions and domain-specific balance forensics within an automated audit workflow.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5. Construct a containerized FastAPI RESTful microservice and SQLite workspace store featuring salted PBKDF2-HMAC-SHA256 password hashing, API-key authentication, and thread-safe WAL mode.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6. Construct an event-driven Apache Kafka real-time streaming pipeline featuring transactional outbox persistence, manual offset commits, and synchronous broker acknowledgements for crash recovery.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7. Validate system robustness through a 104-test automated regression suite achieving a 100% pass rate across all functional, security, and streaming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45920"/>
            <a:ext cx="365760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Identified SDGs (Potential Relevance)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SDG 8 (Decent Work &amp; Economic Growth): Target 8.10 – Potential relevance to strengthening digital payment resilience and protecting financial transaction integrity against fraud.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SDG 9 (Industry, Innovation &amp; Infrastructure): Target 9.5 – Potential relevance to upgrading technological capabilities and fostering robust, explainable automated infrastructure.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SDG 16 (Peace, Justice &amp; Strong Institutions): Target 16.5 – Potential relevance to supporting compliance auditing and mitigating illicit financial flows and financial malpractices.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System Architecture &amp; Execution Paths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554480"/>
            <a:ext cx="393192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Three Distinct Execution Paths</a:t>
            </a:r>
          </a:p>
          <a:p>
            <a:pPr algn="l">
              <a:defRPr sz="1250" b="1">
                <a:solidFill>
                  <a:srgbClr val="2E75B6"/>
                </a:solidFill>
                <a:latin typeface="Times New Roman"/>
              </a:defRPr>
            </a:pPr>
            <a:r>
              <a:t>1. Offline Training Pipeline: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Stratified 60/20/20 train/validation/test partitioning.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Training-only parameter estimation (RobustScaler &amp; SMOTE-NC).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Independent model training and validation threshold tuning (tau*).</a:t>
            </a:r>
          </a:p>
          <a:p>
            <a:pPr algn="l">
              <a:defRPr sz="4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50" b="1">
                <a:solidFill>
                  <a:srgbClr val="2E75B6"/>
                </a:solidFill>
                <a:latin typeface="Times New Roman"/>
              </a:defRPr>
            </a:pPr>
            <a:r>
              <a:t>2. Dashboard Inference &amp; Review: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Streamlit analyst workspace loads trained models.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Evaluates transactions against thresholds via any-model review rule.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Displays local TreeSHAP waterfall feature attributions.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SQLite workspace persistence store (WAL mode) saves user accounts, uploaded datasets, and review dispositions.</a:t>
            </a:r>
          </a:p>
          <a:p>
            <a:pPr algn="l">
              <a:defRPr sz="4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50" b="1">
                <a:solidFill>
                  <a:srgbClr val="2E75B6"/>
                </a:solidFill>
                <a:latin typeface="Times New Roman"/>
              </a:defRPr>
            </a:pPr>
            <a:r>
              <a:t>3. API &amp; Real-Time Streaming: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FastAPI REST gateway returns primary model prediction with comparison breakdown and vote fraction.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Apache Kafka consumer with transactional SQLite outbox and manual offset commits for crash recovery.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Functional Requirements &amp; System Specifications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Implemented Functional Requirements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FR-1: Real-Time JSON Ingestion &amp; Streaming: Ingest transaction payloads via synchronous FastAPI REST endpoints (/predict) or event-driven Apache Kafka topics (financial.transactions).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FR-2: Four-Model Scoring &amp; Risk Bands: Concurrently evaluate records across 4 models; triage individual predictions into four operational score bands: LOW, MEDIUM, HIGH, and CRITICAL.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FR-3: Any-Model Review Rule: Flag transactions for human review whenever any individual model score meets or exceeds its calibrated threshold tau*.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FR-4: Explainable Decision Auditing: Generate local TreeSHAP feature attribution charts and quantitative balance discrepancy indicators (deltaOrig, deltaDest) for flagged records.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FR-5: Batch Processing &amp; Export: Ingest and score multi-thousand row CSV datasets with persistent history, review status tracking, and filtered CSV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Security, Reliability &amp; Quality Controls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NFR-1: Local Cryptographic Hashing: Salted PBKDF2-HMAC-SHA256 (600,000 iterations) for secure local user credential storage in SQLite.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NFR-2: Strict Deployment Secrets: Zero-fallback environment secret enforcement via ${FRAUDGUARD_API_KEY:?Set FRAUDGUARD_API_KEY} in Docker Compose.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NFR-3: Transactional Outbox &amp; Crash Recovery: Persistent SQLite pending_alerts table with manual Kafka offset commits enabling message replay and retry upon consumer crash.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NFR-4: Thread-Safe Persistence: SQLite WAL mode supporting concurrent analyst read/write sessions without database locking.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NFR-5: Responsive Interaction: Direct model tensor invocation delivering responsive sub-second interactive scoring across dashboard workflows and streaming feeds.</a:t>
            </a: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Software Modules &amp; Implementation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94360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554480"/>
            <a:ext cx="457200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6459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Implemented System Modules (Repository)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Module 1: Preprocessor &amp; Feature Forensics (src/preprocessor.py): Quantile RobustScaler fitting, median imputation, discrepancy features: deltaOrig = newOrig + amount - oldOrig, deltaDest = oldDest + amount - newDest.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Module 2: Model Comparison &amp; Evaluation (src/model_comparison.py): Evaluates four diverse models across holdout partitions; calculates precision, recall, F1, PR-AUC, and ROC-AUC.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Module 3: Explainability Pipeline (src/explainability.py): TreeSHAP local attributions, feature importance waterfall generation, and directional explanation factors. (Note: src/transaction_explanation.py does not exist in checked repository).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Module 4: RESTful API Gateway (src/api.py): FastAPI endpoints (/predict, /health, /metrics), API-key authentication, rate-limiting, and primary model prediction with comparison breakdowns.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Module 5: Fault-Tolerant Streaming (src/kafka_streaming.py): Kafka consumer/producer, transactional outbox (pending_alerts), synchronous broker ACK, and manual offset commits.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Module 6: Workspace Persistence Store (src/workspace_store.py): Thread-safe SQLite store managing user accounts, uploaded datasets, prediction history, and case review escalation.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Experimental Evaluation &amp; Performance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9875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1005840"/>
                <a:gridCol w="1005840"/>
                <a:gridCol w="731520"/>
                <a:gridCol w="731520"/>
                <a:gridCol w="73152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99.60%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0.8235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0.8750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0.8889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0.8889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0.8889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0.9968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0.9418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Deep Neural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0.8889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Deep Autoencoder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0.9762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0.9111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0.9425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0.9909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0.9586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840480"/>
            <a:ext cx="5486400" cy="2194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Times New Roman"/>
              </a:defRPr>
            </a:pPr>
            <a:r>
              <a:t>Key Model Strengths &amp; Individual Trade-Offs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Random Forest: Highest recall (0.9333, 42 TP) among the four individual models, identifying the maximum number of fraud incidents.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Deep Neural Network: Zero false positives (0 FP, 1.0000 precision) on this particular holdout, eliminating false alarms on legitimate transactions.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Deep Autoencoder: Highest individual-model F1 score (0.9425) on this holdout, balancing high recall (0.9111) with only 1 false positive.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XGBoost: Validation-selected benchmark baseline; selected based on validation set performance, confirming stability on holdout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840480"/>
            <a:ext cx="4937760" cy="2194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88620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Times New Roman"/>
              </a:defRPr>
            </a:pPr>
            <a:r>
              <a:t>Methodological Scope &amp; Results Citation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Evaluation Holdout: 3,000 untouched holdout transactions (60/20/20 split; 225 total frauds = 1.50% prevalence).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Threshold Selection: Each model is evaluated independently against its own validation-tuned operating threshold (tau*).</a:t>
            </a:r>
          </a:p>
          <a:p>
            <a:pPr algn="l">
              <a:defRPr sz="1050" b="1">
                <a:solidFill>
                  <a:srgbClr val="059669"/>
                </a:solidFill>
                <a:latin typeface="Times New Roman"/>
              </a:defRPr>
            </a:pPr>
            <a:r>
              <a:t>• Saved Result Files: Verified directly from results/model_results.csv and results/holdout_evaluation_report.json.</a:t>
            </a:r>
          </a:p>
          <a:p>
            <a:pPr algn="l">
              <a:defRPr sz="1050" b="0">
                <a:solidFill>
                  <a:srgbClr val="555555"/>
                </a:solidFill>
                <a:latin typeface="Times New Roman"/>
              </a:defRPr>
            </a:pPr>
            <a:r>
              <a:t>• Note: Offline weighted fusion, distribution shift, and cost simulations are detailed on dedicated backup slides.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Conclusion &amp;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Conclusions &amp; Operational Insights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Multi-Model Trade-Offs: Supervised tree ensembles offer superior recall and native SHAP interpretability; deep neural architectures achieve zero or near-zero false alarms and unsupervised anomaly detection; no single model dominates across all operating criteria.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Synthetic Benchmark Limitations: Evaluated on 15,000 locally generated synthetic transactions. While matching mobile payment schemas, synthetic distributions do not reflect live adversarial fraud evolution; continuous telemetry is required.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Explainability Scope: TreeSHAP local attributions and ledger forensics provide critical decision transparency for human analysts, though technical explainability alone does not constitute statutory legal compliance.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Implemented Streaming Reliability: Transactional SQLite outbox (pending_alerts), manual offset commits, and synchronous broker acknowledgements provide verified message resilience across tested crash and disconnect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Future Research Roadmap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Graph Neural Networks (GNNs): Incorporate Relational Graph Convolutional Networks (R-GCNs) to detect money mule rings, collusion subgraphs, and synthetic identity fraud networks.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Online Concept Drift Adaptation: Integrate streaming drift detectors (ADWIN, DDM) to trigger automated pipeline recalibration under evolving payment distributions.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Pre-Authorization Telemetry: Expand beyond retrospective ledger balance features by incorporating real-time behavioral velocity and device fingerprinting.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Model Quantization: Deploy ONNX Runtime and TensorRT quantization for ultra-low latency edge inference.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Outcomes Achieved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Times New Roman"/>
              </a:defRPr>
            </a:pPr>
            <a:r>
              <a:t>Tangible Project Outcomes &amp; Verified Deliverables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t>1. Working Academic Prototype &amp; Microservice: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Multi-container Docker Compose architecture defining API, dashboard, Kafka, and ZooKeeper services with strict deployment secret enforcement (${FRAUDGUARD_API_KEY}).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Modular Python software combining FastAPI REST endpoints, Streamlit analyst workspace, and Kafka real-time streaming ingestion.</a:t>
            </a:r>
          </a:p>
          <a:p>
            <a:pPr algn="l">
              <a:defRPr sz="8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t>2. Comprehensive Automated Regression Verification: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104 automated tests achieving a 100% PASS rate across 9 test suites covering preprocessing, model scoring, explainability, API security, streaming recovery, and SQLite persistence.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Explicitly attributed to the saved test report in results/test_report.txt and results/test_summary.json.</a:t>
            </a:r>
          </a:p>
          <a:p>
            <a:pPr algn="l">
              <a:defRPr sz="8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t>3. Open-Source Codebase &amp; Reproducible Artifacts: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Public GitHub Repository: https://github.com/animeshlabh57-rgb/AI-Based-Financial-Fraud-Detection-System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Contains complete modular source code, trained model weights, evaluation benchmark scripts, and Docker orchestrations.</a:t>
            </a:r>
          </a:p>
          <a:p>
            <a:pPr algn="l">
              <a:defRPr sz="8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t>4. Academic Documentation &amp; Publication Trajectory: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Comprehensive 41-page B.Tech Project-I Academic Project Report (BCSE497J) formatted in accordance with VIT IEEE guidelines.</a:t>
            </a:r>
          </a:p>
          <a:p>
            <a:pPr algn="l">
              <a:defRPr sz="1200" b="0">
                <a:solidFill>
                  <a:srgbClr val="202020"/>
                </a:solidFill>
                <a:latin typeface="Times New Roman"/>
              </a:defRPr>
            </a:pPr>
            <a:r>
              <a:t>• Future Publication Trajectory: Target preparation for submission to a peer-reviewed Scopus-indexed conference / journal (kept separate from achieved outcomes).</a:t>
            </a:r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28/10/26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VIT SCOPE  |  BCSE497J Project-I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[1] A. Dal Pozzolo, G. Boracchi, O. Caelen, et al., 'Credit card fraud detection: A realistic modeling and a novel learning strategy,' IEEE Trans. Neural Netw. Learn. Syst., vol. 29, no. 8, pp. 3784–3797, Aug. 2018.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[2] A. Dal Pozzolo, O. Caelen, R. A. Johnson, and G. Bontempi, 'Calibrating probability with undersampling for unbalanced classification,' in Proc. IEEE SSCI, 2015, pp. 159–166.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[3] N. V. Chawla, K. W. Bowyer, L. O. Hall, and W. P. Kegelmeyer, 'SMOTE: Synthetic minority over-sampling technique,' J. Artif. Intell. Res., vol. 16, pp. 321–357, 2002.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[4] A. Pumsirirat and L. Yan, 'Credit card fraud detection using deep learning based on auto-encoder and restricted Boltzmann machine,' Int. J. Adv. Comput. Sci. Appl., vol. 9, no. 1, pp. 18–25, 2018.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[5] L. Breiman, 'Random forests,' Mach. Learn., vol. 45, no. 1, pp. 5–32, 2001.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[6] T. Chen and C. Guestrin, 'XGBoost: A scalable tree boosting system,' in Proc. 22nd ACM SIGKDD, 2016, pp. 785–794.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[7] J. An and S. Cho, 'Variational autoencoder based anomaly detection using reconstruction probability,' Special Lecture on IE, vol. 2, no. 1, pp. 1–18, 2015.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[8] S. M. Lundberg et al., 'From local explanations to global understanding with explainable AI for trees,' Nature Mach. Intell., vol. 2, no. 1, pp. 56–67, 2020.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[14] M. Shanaa and S. Abdallah, 'A hybrid anomaly detection framework combining supervised and unsupervised learning for credit card fraud detection,' F1000Research, vol. 14, art. 664, 2025.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[15] S. Iqbal, K. M. Awan, S. Kamal, and Z. Ur Rehman, 'Interpretable ensemble learning models for credit card fraud detection,' Appl. Sci., vol. 15, no. 22, art. 12073, 2025.</a:t>
            </a:r>
          </a:p>
          <a:p>
            <a:pPr algn="l">
              <a:defRPr sz="15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000" b="1">
                <a:solidFill>
                  <a:srgbClr val="1F4E79"/>
                </a:solidFill>
                <a:latin typeface="Times New Roman"/>
              </a:defRPr>
            </a:pPr>
            <a:r>
              <a:t>Repository &amp; Saved Experimental Evidence:</a:t>
            </a:r>
          </a:p>
          <a:p>
            <a:pPr algn="l">
              <a:defRPr sz="950" b="0">
                <a:solidFill>
                  <a:srgbClr val="202020"/>
                </a:solidFill>
                <a:latin typeface="Times New Roman"/>
              </a:defRPr>
            </a:pPr>
            <a:r>
              <a:t>• GitHub Codebase: https://github.com/animeshlabh57-rgb/AI-Based-Financial-Fraud-Detection-System</a:t>
            </a:r>
          </a:p>
          <a:p>
            <a:pPr algn="l">
              <a:defRPr sz="950" b="1">
                <a:solidFill>
                  <a:srgbClr val="059669"/>
                </a:solidFill>
                <a:latin typeface="Times New Roman"/>
              </a:defRPr>
            </a:pPr>
            <a:r>
              <a:t>• Primary Results: results/model_results.csv  |  Secondary Shift: results/independent_benchmark_report.json  |  Tests: results/test_report.txt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Dataset Provenance &amp; Experimental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Benchmark Dataset &amp; Preprocessing Pipeline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Dataset Source: 15,000 locally generated synthetic transactions mimicking mobile money transfer semantics (not an official PaySim release or real banking data).</a:t>
            </a:r>
          </a:p>
          <a:p>
            <a:pPr algn="l">
              <a:defRPr sz="1150" b="1">
                <a:solidFill>
                  <a:srgbClr val="059669"/>
                </a:solidFill>
                <a:latin typeface="Times New Roman"/>
              </a:defRPr>
            </a:pPr>
            <a:r>
              <a:t>• Fraud Prevalence: Exactly 225 fraud cases out of 15,000 transactions (1.50% prevalence; 225/15,000).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Input Schema: 9 attributes including transaction step, transfer type (TRANSFER, CASH_OUT, PAYMENT, DEBIT, CASH_IN), amount, and balances.</a:t>
            </a:r>
          </a:p>
          <a:p>
            <a:pPr algn="l"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• Domain Balance Forensics: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Origin balance discrepancy: deltaOrig = newbalanceOrig + amount - oldbalanceOrg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Destination balance discrepancy: deltaDest = oldbalanceDest + amount - newbalanceDest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Depletion indicator (origDepleted: sender account fully emptied) and destination surge factor.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Experimental Partitions &amp; Leakage Prevention</a:t>
            </a:r>
          </a:p>
          <a:p>
            <a:pPr algn="l"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• Strict Stratified Partitions (60 / 20 / 20 Split):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Training Set (60%): 9,000 transactions (135 fraud, 8,865 legitimate).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Validation Set (20%): 3,000 transactions (45 fraud, 2,955 legitimate).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Holdout Test Set (20%): 3,000 transactions (45 fraud, 2,955 legitimate).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• Leakage-Free Isolation: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Quantile RobustScaler parameters and median imputers are fit strictly on the 60% training set.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SMOTE-NC synthetic oversampling is restricted strictly to the training partition.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Validation and test sets remain completely untouched during all data engineering.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• Validation-Based Threshold Selection: Model operating thresholds tau* are selected on the validation partition to optimize F1-score; final metrics are evaluated once on untouched holdout test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Additional Offline Weighted-Fusion &amp; Cost Analysis Experiment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Offline Weighted-Fusion Formulation &amp; Results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Distinct Experimental Scope: This is an additional offline research experiment evaluated on the 3,000-transaction holdout, distinct from the dashboard's individual-model review rule.</a:t>
            </a:r>
          </a:p>
          <a:p>
            <a:pPr algn="l">
              <a:defRPr sz="1150" b="0">
                <a:solidFill>
                  <a:srgbClr val="202020"/>
                </a:solidFill>
                <a:latin typeface="Times New Roman"/>
              </a:defRPr>
            </a:pPr>
            <a:r>
              <a:t>• Fusion Formulation: Combines normalized model scores using fixed empirical weights:</a:t>
            </a:r>
          </a:p>
          <a:p>
            <a:pPr algn="l">
              <a:defRPr sz="1150" b="1">
                <a:solidFill>
                  <a:srgbClr val="2E75B6"/>
                </a:solidFill>
                <a:latin typeface="Times New Roman"/>
              </a:defRPr>
            </a:pPr>
            <a:r>
              <a:t>  S_fusion(x) = 0.25*S_RF + 0.35*S_XGB + 0.20*S_DNN + 0.20*S_AE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Evaluated against validation-selected composite threshold tau* = 0.7916.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00" b="1">
                <a:solidFill>
                  <a:srgbClr val="059669"/>
                </a:solidFill>
                <a:latin typeface="Times New Roman"/>
              </a:defRPr>
            </a:pPr>
            <a:r>
              <a:t>• Performance Trade-Off:</a:t>
            </a:r>
          </a:p>
          <a:p>
            <a:pPr algn="l">
              <a:defRPr sz="1100" b="1">
                <a:solidFill>
                  <a:srgbClr val="202020"/>
                </a:solidFill>
                <a:latin typeface="Times New Roman"/>
              </a:defRPr>
            </a:pPr>
            <a:r>
              <a:t>  'In the offline weighted-fusion experiment, false positives decreased from 9 to 4 compared with Random Forest (a 55.6% reduction), while true positives decreased from 42 to 40.'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• Holdout Test Metrics: Precision: 0.9091 | Recall: 0.8889 | F1-Score: 0.8989 | ROC-AUC: 0.9985 | PR-AUC: 0.9555.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Financial Cost-Benefit Scenario Modeling</a:t>
            </a:r>
          </a:p>
          <a:p>
            <a:pPr algn="l"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• Asymmetric Cost Framework: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Missed Fraud Cost (C_FN) = $2,500 (direct financial loss + chargeback penalty).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False Alarm Investigation Cost (C_FP) = $35 (compliance analyst triage overhead).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True Positive Triage Cost (C_TP) = $10 (verification workflow cost).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200" b="1">
                <a:solidFill>
                  <a:srgbClr val="202020"/>
                </a:solidFill>
                <a:latin typeface="Times New Roman"/>
              </a:defRPr>
            </a:pPr>
            <a:r>
              <a:t>• Loss Comparison Across Scenarios: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Baseline Loss (Unmonitored System): $112,500 across 45 fraud incidents (45 * $2,500).</a:t>
            </a:r>
          </a:p>
          <a:p>
            <a:pPr algn="l">
              <a:defRPr sz="1100" b="0">
                <a:solidFill>
                  <a:srgbClr val="202020"/>
                </a:solidFill>
                <a:latin typeface="Times New Roman"/>
              </a:defRPr>
            </a:pPr>
            <a:r>
              <a:t>  - Weighted-Fusion Operational Loss: $13,040 ($12,500 FN + $140 FP + $400 TP).</a:t>
            </a:r>
          </a:p>
          <a:p>
            <a:pPr algn="l">
              <a:defRPr sz="600" b="0">
                <a:solidFill>
                  <a:srgbClr val="202020"/>
                </a:solidFill>
                <a:latin typeface="Times New Roman"/>
              </a:defRPr>
            </a:pPr>
          </a:p>
          <a:p>
            <a:pPr algn="l"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• Simulated Financial Outcome: '88.4% simulated loss reduction under assumed costs' (+$99,460 simulated savings; scenario calculation, not measured bank savings).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Cross-Generator Distribution Shift &amp; Robustness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Test 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True Positives (TP)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False Positives (FP)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False Negatives (FN)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Operational Behavior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00000"/>
                          </a:solidFill>
                          <a:latin typeface="Times New Roman"/>
                        </a:defRPr>
                      </a:pPr>
                      <a:r>
                        <a:t>0.00% (0/15)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Total Recall 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00000"/>
                          </a:solidFill>
                          <a:latin typeface="Times New Roman"/>
                        </a:defRPr>
                      </a:pPr>
                      <a:r>
                        <a:t>0.00% (0/15)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Total Recall 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Deep Neural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100.0% (15/15)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Times New Roman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100% Recall, Elevated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Deep Autoencoder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100.0% (15/15)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Times New Roman"/>
                        </a:defRPr>
                      </a:pPr>
                      <a:r>
                        <a:t>336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02020"/>
                          </a:solidFill>
                          <a:latin typeface="Times New Roman"/>
                        </a:defRPr>
                      </a:pPr>
                      <a:r>
                        <a:t>100% Recall, Very High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749039"/>
            <a:ext cx="5212080" cy="22860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Times New Roman"/>
              </a:defRPr>
            </a:pPr>
            <a:r>
              <a:t>Critical Robustness Findings (1,000 txns, 15 frauds)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Tree Recall Collapse: Tree ensembles (Random Forest, XGBoost) suffered complete recall failure (0/15 caught) when evaluated against an independently generated synthetic dataset due to orthogonal decision boundary shifts.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Elevated False Positives in Deep Models: While deep models caught 100% of frauds (15/15), the Deep Neural Network produced 87 false positives and the Autoencoder produced 336 false positives.</a:t>
            </a:r>
          </a:p>
          <a:p>
            <a:pPr algn="l">
              <a:defRPr sz="1050" b="1">
                <a:solidFill>
                  <a:srgbClr val="C00000"/>
                </a:solidFill>
                <a:latin typeface="Times New Roman"/>
              </a:defRPr>
            </a:pPr>
            <a:r>
              <a:t>• Honest Generalization Lesson: Reporting 100% recall alone without reporting false positives would be misleading; high false alarm rates create severe analyst fatigue.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212080" cy="22860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37947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F4E79"/>
                </a:solidFill>
                <a:latin typeface="Times New Roman"/>
              </a:defRPr>
            </a:pPr>
            <a:r>
              <a:t>Academic Defense &amp; Real-World Implications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Synthetic Data Limitation: Offline synthetic benchmarks do not guarantee real-world generalization; distributional covariance shifts easily evade static tree thresholds.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Operational Requirement: Automated models must operate in an advisory human-in-the-loop triage capacity rather than an autonomous decision authority.</a:t>
            </a:r>
          </a:p>
          <a:p>
            <a:pPr algn="l">
              <a:defRPr sz="1050" b="0">
                <a:solidFill>
                  <a:srgbClr val="202020"/>
                </a:solidFill>
                <a:latin typeface="Times New Roman"/>
              </a:defRPr>
            </a:pPr>
            <a:r>
              <a:t>• Pipeline Recommendation: Continuous concept drift monitoring (ADWIN) and adaptive retraining are essential before deploying to live financial environments.</a:t>
            </a:r>
          </a:p>
          <a:p>
            <a:pPr algn="l">
              <a:defRPr sz="1050" b="1">
                <a:solidFill>
                  <a:srgbClr val="059669"/>
                </a:solidFill>
                <a:latin typeface="Times New Roman"/>
              </a:defRPr>
            </a:pPr>
            <a:r>
              <a:t>• Saved Evidence: results/independent_benchmark_report.json.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F4E79"/>
                </a:solidFill>
                <a:latin typeface="Times New Roman"/>
              </a:defRPr>
            </a:pPr>
            <a:r>
              <a:t>Streamlit System Workflow &amp; User Interface Demonstration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931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59612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Times New Roman"/>
              </a:defRPr>
            </a:pPr>
            <a:r>
              <a:t>End-to-End Analyst Workflow Implemented in Streamlit Workspace:</a:t>
            </a:r>
          </a:p>
          <a:p>
            <a:pPr algn="l">
              <a:defRPr sz="1000" b="0">
                <a:solidFill>
                  <a:srgbClr val="202020"/>
                </a:solidFill>
                <a:latin typeface="Times New Roman"/>
              </a:defRPr>
            </a:pPr>
            <a:r>
              <a:t>(1) Batch CSV upload &amp; schema validation  -&gt;  (2) Four-model evaluation under any-model review rule (LOW/MED/HIGH/CRITICAL)  -&gt;  (3) Flagged transaction inspection with local TreeSHAP waterfall attributions  -&gt;  (4) Audit persistence in thread-safe SQLite workspace store.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